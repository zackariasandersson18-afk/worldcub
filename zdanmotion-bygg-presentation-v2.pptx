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a542d01-cf61-6a3e-0e8a-ca0dd1bb1bd1}">
          <p14:sldIdLst>
            <p14:sldId id="256"/>
          </p14:sldIdLst>
        </p14:section>
        <p14:section name="Agenda" id="{2f0cd821-9dd1-ce8d-39f3-0f3834c6bf2f}">
          <p14:sldIdLst>
            <p14:sldId id="257"/>
          </p14:sldIdLst>
        </p14:section>
        <p14:section name="Lösningen" id="{3134b6b4-f296-244b-8e88-22128762c653}">
          <p14:sldIdLst>
            <p14:sldId id="258"/>
            <p14:sldId id="259"/>
            <p14:sldId id="260"/>
          </p14:sldIdLst>
        </p14:section>
        <p14:section name="Pris" id="{96ed1a88-501c-5a06-bf6c-77f27d76a03b}">
          <p14:sldIdLst>
            <p14:sldId id="261"/>
          </p14:sldIdLst>
        </p14:section>
        <p14:section name="Nästa steg" id="{5f0cfbf8-71ff-4666-acda-3104e4d54bea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Tacka för tiden. Kort om zdanmotion: vi gör videoannonser med motion graphics för byggföretag, kvalificerar leadsen och bokar hembesöken direkt i kundens kalender. Fråga hur mycket tid de har och börja gärna med några frågor om deras företag.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Gå igenom agendan: hur systemet fungerar, hur vi kvalificerar och bokar in hembesök i kalendern, appen och sedan investering. Koppla målen till det kunden sa i kartläggningen (fler jobb, kunna planera, slippa jaga). Säg tydligt att ni tar ett beslut i slutet av mötet – och att ett nej är helt okej.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Gå igenom stegen lugnt. Betona steg 3 och 4: vi kvalificerar varje lead och bokar in hembesöket direkt i deras kalender – de slipper jaga leads och åka ut till kunder som bara vill ha ett pris.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 här är kärnan: vi levererar inte bara klick eller leads. Varje lead kvalificeras på projekt, budget och tidsplan – och bokas sedan direkt in i deras kalender. De behöver inte ringa runt eller jaga någon.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Visa appen: alla hembesök i en kalender, SMS-notis när något bokas, chatt med leads via SMS och statistik över bokade besök. Fråga: är det du som går på hembesöken? Då är det du som får notiserna.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 tjänar mest när de tjänar mest. Annonsbudgeten går rakt till Meta och syns i deras eget annonskonto – full insyn.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Sammanfatta kort vad de får, ställ sedan frågan: Vad känner du? Hur vill du gå vidare härifrån? Var tyst och låt kunden svara. Vid ja: skicka avtalet för e-signering direkt under samtalet och be om bilder och filmer i en Google Drive-mapp. Vid nej: helt okej – tacka för tiden.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DARK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LIGH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28600"/>
            <a:ext cx="25603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" y="228600"/>
            <a:ext cx="0" cy="25603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9368" y="228600"/>
            <a:ext cx="25603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15400" y="228600"/>
            <a:ext cx="0" cy="25603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4914900"/>
            <a:ext cx="25603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4658868"/>
            <a:ext cx="0" cy="25603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59368" y="4914900"/>
            <a:ext cx="25603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15400" y="4658868"/>
            <a:ext cx="0" cy="25603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zdanmotion.se</a:t>
            </a:r>
            <a:endParaRPr lang="en-US" sz="1000" dirty="0"/>
          </a:p>
        </p:txBody>
      </p:sp>
      <p:sp>
        <p:nvSpPr>
          <p:cNvPr id="11" name="Text 9"/>
          <p:cNvSpPr/>
          <p:nvPr>
            <p:ph idx="109" type="body" hasCustomPrompt="1"/>
          </p:nvPr>
        </p:nvSpPr>
        <p:spPr>
          <a:xfrm>
            <a:off x="548640" y="384048"/>
            <a:ext cx="5943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12" name="Text 9"/>
          <p:cNvSpPr/>
          <p:nvPr>
            <p:ph idx="110" type="title" hasCustomPrompt="1"/>
          </p:nvPr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80960" y="4681728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28600"/>
            <a:ext cx="2560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" y="228600"/>
            <a:ext cx="0" cy="256032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9368" y="228600"/>
            <a:ext cx="2560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15400" y="228600"/>
            <a:ext cx="0" cy="256032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4914900"/>
            <a:ext cx="2560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4658868"/>
            <a:ext cx="0" cy="256032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59368" y="4914900"/>
            <a:ext cx="2560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15400" y="4658868"/>
            <a:ext cx="0" cy="256032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zdanmotion.se</a:t>
            </a:r>
            <a:endParaRPr lang="en-US" sz="1000" dirty="0"/>
          </a:p>
        </p:txBody>
      </p:sp>
      <p:sp>
        <p:nvSpPr>
          <p:cNvPr id="11" name="Text 9"/>
          <p:cNvSpPr/>
          <p:nvPr>
            <p:ph idx="109" type="body" hasCustomPrompt="1"/>
          </p:nvPr>
        </p:nvSpPr>
        <p:spPr>
          <a:xfrm>
            <a:off x="548640" y="384048"/>
            <a:ext cx="5943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12" name="Text 9"/>
          <p:cNvSpPr/>
          <p:nvPr>
            <p:ph idx="110" type="title" hasCustomPrompt="1"/>
          </p:nvPr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80960" y="4681728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28600"/>
            <a:ext cx="25603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" y="228600"/>
            <a:ext cx="0" cy="25603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9368" y="228600"/>
            <a:ext cx="25603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15400" y="228600"/>
            <a:ext cx="0" cy="25603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4914900"/>
            <a:ext cx="25603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4658868"/>
            <a:ext cx="0" cy="25603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59368" y="4914900"/>
            <a:ext cx="25603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15400" y="4658868"/>
            <a:ext cx="0" cy="25603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28600"/>
            <a:ext cx="256032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" y="228600"/>
            <a:ext cx="0" cy="256032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9368" y="228600"/>
            <a:ext cx="256032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15400" y="228600"/>
            <a:ext cx="0" cy="256032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4914900"/>
            <a:ext cx="256032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4658868"/>
            <a:ext cx="0" cy="256032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59368" y="4914900"/>
            <a:ext cx="256032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15400" y="4658868"/>
            <a:ext cx="0" cy="256032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80960" y="4681728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image" Target="../media/image-7-14.png"/><Relationship Id="rId15" Type="http://schemas.openxmlformats.org/officeDocument/2006/relationships/image" Target="../media/image-7-15.png"/><Relationship Id="rId16" Type="http://schemas.openxmlformats.org/officeDocument/2006/relationships/slideLayout" Target="../slideLayouts/slideLayout4.xml"/><Relationship Id="rId17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</a:rPr>
              <a:t>ZDANMOTION</a:t>
            </a:r>
            <a:endParaRPr lang="en-US" sz="1200" dirty="0"/>
          </a:p>
        </p:txBody>
      </p:sp>
      <p:sp>
        <p:nvSpPr>
          <p:cNvPr id="3" name="Cover title"/>
          <p:cNvSpPr txBox="1"/>
          <p:nvPr/>
        </p:nvSpPr>
        <p:spPr>
          <a:xfrm>
            <a:off x="548640" y="109728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Fler hembesök.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chemeClr val="accent1"/>
                </a:solidFill>
              </a:rPr>
              <a:t>Fler vunna jobb.</a:t>
            </a:r>
            <a:endParaRPr lang="en-US" sz="4200" dirty="0"/>
          </a:p>
        </p:txBody>
      </p:sp>
      <p:sp>
        <p:nvSpPr>
          <p:cNvPr id="4" name="Cover subtitle"/>
          <p:cNvSpPr txBox="1"/>
          <p:nvPr/>
        </p:nvSpPr>
        <p:spPr>
          <a:xfrm>
            <a:off x="548640" y="25146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Videoannonser för byggföretag. Vi kvalificerar leads och bokar hembesöken direkt i din kalender.</a:t>
            </a:r>
            <a:endParaRPr lang="en-US" sz="1500" dirty="0"/>
          </a:p>
        </p:txBody>
      </p:sp>
      <p:sp>
        <p:nvSpPr>
          <p:cNvPr id="5" name="Chip Annonser"/>
          <p:cNvSpPr/>
          <p:nvPr/>
        </p:nvSpPr>
        <p:spPr>
          <a:xfrm>
            <a:off x="548640" y="3520440"/>
            <a:ext cx="1078992" cy="347472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3611880"/>
            <a:ext cx="164592" cy="1645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86968" y="3520440"/>
            <a:ext cx="694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Annonser</a:t>
            </a:r>
            <a:endParaRPr lang="en-US" sz="1100" dirty="0"/>
          </a:p>
        </p:txBody>
      </p:sp>
      <p:sp>
        <p:nvSpPr>
          <p:cNvPr id="8" name="Chip För byggföretag"/>
          <p:cNvSpPr/>
          <p:nvPr/>
        </p:nvSpPr>
        <p:spPr>
          <a:xfrm>
            <a:off x="1764792" y="3520440"/>
            <a:ext cx="1623060" cy="347472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664" y="3611880"/>
            <a:ext cx="164592" cy="164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103120" y="3520440"/>
            <a:ext cx="12390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För byggföretag</a:t>
            </a:r>
            <a:endParaRPr lang="en-US" sz="1100" dirty="0"/>
          </a:p>
        </p:txBody>
      </p:sp>
      <p:sp>
        <p:nvSpPr>
          <p:cNvPr id="11" name="Chip Bokade hembesök"/>
          <p:cNvSpPr/>
          <p:nvPr/>
        </p:nvSpPr>
        <p:spPr>
          <a:xfrm>
            <a:off x="3525012" y="3520440"/>
            <a:ext cx="1623060" cy="347472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3884" y="3611880"/>
            <a:ext cx="164592" cy="164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63340" y="3520440"/>
            <a:ext cx="12390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Bokade hembesök</a:t>
            </a:r>
            <a:endParaRPr lang="en-US" sz="1100" dirty="0"/>
          </a:p>
        </p:txBody>
      </p:sp>
      <p:sp>
        <p:nvSpPr>
          <p:cNvPr id="14" name="Timeline"/>
          <p:cNvSpPr/>
          <p:nvPr/>
        </p:nvSpPr>
        <p:spPr>
          <a:xfrm>
            <a:off x="548640" y="4251960"/>
            <a:ext cx="484632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15" name="Timeline progress"/>
          <p:cNvSpPr/>
          <p:nvPr/>
        </p:nvSpPr>
        <p:spPr>
          <a:xfrm>
            <a:off x="548640" y="4251960"/>
            <a:ext cx="310896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</p:spPr>
      </p:sp>
      <p:sp>
        <p:nvSpPr>
          <p:cNvPr id="16" name="Keyframe 1"/>
          <p:cNvSpPr/>
          <p:nvPr/>
        </p:nvSpPr>
        <p:spPr>
          <a:xfrm>
            <a:off x="548640" y="4178808"/>
            <a:ext cx="146304" cy="146304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17" name="Keyframe 2"/>
          <p:cNvSpPr/>
          <p:nvPr/>
        </p:nvSpPr>
        <p:spPr>
          <a:xfrm>
            <a:off x="1481328" y="4178808"/>
            <a:ext cx="146304" cy="146304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18" name="Keyframe 3"/>
          <p:cNvSpPr/>
          <p:nvPr/>
        </p:nvSpPr>
        <p:spPr>
          <a:xfrm>
            <a:off x="2578608" y="4178808"/>
            <a:ext cx="146304" cy="146304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19" name="Keyframe 4"/>
          <p:cNvSpPr/>
          <p:nvPr/>
        </p:nvSpPr>
        <p:spPr>
          <a:xfrm>
            <a:off x="3584448" y="4178808"/>
            <a:ext cx="146304" cy="146304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20" name="Keyframe 5"/>
          <p:cNvSpPr/>
          <p:nvPr/>
        </p:nvSpPr>
        <p:spPr>
          <a:xfrm>
            <a:off x="4636008" y="4178808"/>
            <a:ext cx="146304" cy="146304"/>
          </a:xfrm>
          <a:prstGeom prst="diamond">
            <a:avLst/>
          </a:prstGeom>
          <a:solidFill>
            <a:schemeClr val="accent6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548640" y="43708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Annons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4480560" y="43708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Hembesök</a:t>
            </a:r>
            <a:endParaRPr lang="en-US" sz="900" dirty="0"/>
          </a:p>
        </p:txBody>
      </p:sp>
      <p:sp>
        <p:nvSpPr>
          <p:cNvPr id="23" name="Glow"/>
          <p:cNvSpPr/>
          <p:nvPr/>
        </p:nvSpPr>
        <p:spPr>
          <a:xfrm>
            <a:off x="5806440" y="685800"/>
            <a:ext cx="3017520" cy="3017520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4" name="Video ad mockup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411480"/>
            <a:ext cx="2121408" cy="431596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9"/>
          <p:cNvSpPr/>
          <p:nvPr>
            <p:ph idx="109" type="body" hasCustomPrompt="1"/>
          </p:nvPr>
        </p:nvSpPr>
        <p:spPr>
          <a:xfrm>
            <a:off x="54864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DAGENS AGENDA</a:t>
            </a:r>
            <a:endParaRPr lang="en-US" sz="1100" dirty="0"/>
          </a:p>
        </p:txBody>
      </p:sp>
      <p:sp>
        <p:nvSpPr>
          <p:cNvPr id="3" name="Text 9"/>
          <p:cNvSpPr/>
          <p:nvPr>
            <p:ph idx="110" type="title" hasCustomPrompt="1"/>
          </p:nvPr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Det här går vi igenom idag</a:t>
            </a:r>
            <a:endParaRPr lang="en-US" sz="3000" dirty="0"/>
          </a:p>
        </p:txBody>
      </p:sp>
      <p:sp>
        <p:nvSpPr>
          <p:cNvPr id="4" name="REC dot"/>
          <p:cNvSpPr/>
          <p:nvPr/>
        </p:nvSpPr>
        <p:spPr>
          <a:xfrm>
            <a:off x="7360920" y="429768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imecode"/>
          <p:cNvSpPr txBox="1"/>
          <p:nvPr/>
        </p:nvSpPr>
        <p:spPr>
          <a:xfrm>
            <a:off x="7543800" y="365760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REC  00:00:02:00</a:t>
            </a:r>
            <a:endParaRPr lang="en-US" sz="900" dirty="0"/>
          </a:p>
        </p:txBody>
      </p:sp>
      <p:sp>
        <p:nvSpPr>
          <p:cNvPr id="6" name="Agenda 1"/>
          <p:cNvSpPr/>
          <p:nvPr/>
        </p:nvSpPr>
        <p:spPr>
          <a:xfrm>
            <a:off x="548640" y="1600200"/>
            <a:ext cx="4846320" cy="594360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13232" y="1600200"/>
            <a:ext cx="411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01</a:t>
            </a:r>
            <a:endParaRPr lang="en-US" sz="1800" dirty="0"/>
          </a:p>
        </p:txBody>
      </p:sp>
      <p:sp>
        <p:nvSpPr>
          <p:cNvPr id="8" name="Agenda icon 1 circle"/>
          <p:cNvSpPr/>
          <p:nvPr/>
        </p:nvSpPr>
        <p:spPr>
          <a:xfrm>
            <a:off x="1143000" y="1700784"/>
            <a:ext cx="393192" cy="393192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9" name="Agenda ic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1298" y="1799082"/>
            <a:ext cx="196596" cy="19659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91640" y="160020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Så fungerar systemet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Videoannonser via Meta till husägare i ert område.</a:t>
            </a:r>
            <a:endParaRPr lang="en-US" sz="1500" dirty="0"/>
          </a:p>
        </p:txBody>
      </p:sp>
      <p:sp>
        <p:nvSpPr>
          <p:cNvPr id="11" name="Agenda 2"/>
          <p:cNvSpPr/>
          <p:nvPr/>
        </p:nvSpPr>
        <p:spPr>
          <a:xfrm>
            <a:off x="548640" y="2331720"/>
            <a:ext cx="4846320" cy="594360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13232" y="2331720"/>
            <a:ext cx="411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02</a:t>
            </a:r>
            <a:endParaRPr lang="en-US" sz="1800" dirty="0"/>
          </a:p>
        </p:txBody>
      </p:sp>
      <p:sp>
        <p:nvSpPr>
          <p:cNvPr id="13" name="Agenda icon 2 circle"/>
          <p:cNvSpPr/>
          <p:nvPr/>
        </p:nvSpPr>
        <p:spPr>
          <a:xfrm>
            <a:off x="1143000" y="2432304"/>
            <a:ext cx="393192" cy="393192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4" name="Agenda ic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298" y="2530602"/>
            <a:ext cx="196596" cy="19659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691640" y="233172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Kvalificering och bokning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Hur vi bokar hembesök direkt i din kalender.</a:t>
            </a:r>
            <a:endParaRPr lang="en-US" sz="1500" dirty="0"/>
          </a:p>
        </p:txBody>
      </p:sp>
      <p:sp>
        <p:nvSpPr>
          <p:cNvPr id="16" name="Agenda 3"/>
          <p:cNvSpPr/>
          <p:nvPr/>
        </p:nvSpPr>
        <p:spPr>
          <a:xfrm>
            <a:off x="548640" y="3063240"/>
            <a:ext cx="4846320" cy="594360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13232" y="3063240"/>
            <a:ext cx="411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03</a:t>
            </a:r>
            <a:endParaRPr lang="en-US" sz="1800" dirty="0"/>
          </a:p>
        </p:txBody>
      </p:sp>
      <p:sp>
        <p:nvSpPr>
          <p:cNvPr id="18" name="Agenda icon 3 circle"/>
          <p:cNvSpPr/>
          <p:nvPr/>
        </p:nvSpPr>
        <p:spPr>
          <a:xfrm>
            <a:off x="1143000" y="3163824"/>
            <a:ext cx="393192" cy="393192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9" name="Agenda ic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1298" y="3262122"/>
            <a:ext cx="196596" cy="19659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691640" y="306324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Appen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Hembesök, notiser och leads på ett ställe.</a:t>
            </a:r>
            <a:endParaRPr lang="en-US" sz="1500" dirty="0"/>
          </a:p>
        </p:txBody>
      </p:sp>
      <p:sp>
        <p:nvSpPr>
          <p:cNvPr id="21" name="Agenda 4"/>
          <p:cNvSpPr/>
          <p:nvPr/>
        </p:nvSpPr>
        <p:spPr>
          <a:xfrm>
            <a:off x="548640" y="3794760"/>
            <a:ext cx="4846320" cy="594360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17"/>
          <p:cNvSpPr txBox="1"/>
          <p:nvPr/>
        </p:nvSpPr>
        <p:spPr>
          <a:xfrm>
            <a:off x="713232" y="3794760"/>
            <a:ext cx="411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04</a:t>
            </a:r>
            <a:endParaRPr lang="en-US" sz="1800" dirty="0"/>
          </a:p>
        </p:txBody>
      </p:sp>
      <p:sp>
        <p:nvSpPr>
          <p:cNvPr id="23" name="Agenda icon 4 circle"/>
          <p:cNvSpPr/>
          <p:nvPr/>
        </p:nvSpPr>
        <p:spPr>
          <a:xfrm>
            <a:off x="1143000" y="3895344"/>
            <a:ext cx="393192" cy="393192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4" name="Agenda ic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1298" y="3993642"/>
            <a:ext cx="196596" cy="19659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691640" y="37947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Investering och beslut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Målet: ett tydligt ja eller nej – ska vi jobba ihop?</a:t>
            </a:r>
            <a:endParaRPr lang="en-US" sz="1500" dirty="0"/>
          </a:p>
        </p:txBody>
      </p:sp>
      <p:sp>
        <p:nvSpPr>
          <p:cNvPr id="26" name="Goal card"/>
          <p:cNvSpPr/>
          <p:nvPr/>
        </p:nvSpPr>
        <p:spPr>
          <a:xfrm>
            <a:off x="5760720" y="1600200"/>
            <a:ext cx="2834640" cy="2788920"/>
          </a:xfrm>
          <a:prstGeom prst="roundRect">
            <a:avLst>
              <a:gd name="adj" fmla="val 3934"/>
            </a:avLst>
          </a:prstGeom>
          <a:solidFill>
            <a:schemeClr val="tx1"/>
          </a:solidFill>
          <a:ln/>
        </p:spPr>
      </p:sp>
      <p:sp>
        <p:nvSpPr>
          <p:cNvPr id="27" name="Text 21"/>
          <p:cNvSpPr txBox="1"/>
          <p:nvPr/>
        </p:nvSpPr>
        <p:spPr>
          <a:xfrm>
            <a:off x="5989320" y="17830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chemeClr val="accent1"/>
                </a:solidFill>
              </a:rPr>
              <a:t>MÅLET</a:t>
            </a:r>
            <a:endParaRPr lang="en-US" sz="100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320" y="2258568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6382512" y="219456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Fler hembesök varje månad</a:t>
            </a:r>
            <a:endParaRPr lang="en-US" sz="1400" dirty="0"/>
          </a:p>
        </p:txBody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9320" y="2807208"/>
            <a:ext cx="256032" cy="25603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382512" y="27432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Trygghet att planera framåt</a:t>
            </a:r>
            <a:endParaRPr lang="en-US" sz="1400" dirty="0"/>
          </a:p>
        </p:txBody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9320" y="3355848"/>
            <a:ext cx="256032" cy="25603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6382512" y="32918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Slippa jaga jobb och leads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5989320" y="38404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Känns det inte rätt är det helt okej – känns det rätt kör vi igång direkt.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80960" y="4681728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9"/>
          <p:cNvSpPr/>
          <p:nvPr>
            <p:ph idx="109" type="body" hasCustomPrompt="1"/>
          </p:nvPr>
        </p:nvSpPr>
        <p:spPr>
          <a:xfrm>
            <a:off x="54864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SÅ FUNGERAR DET</a:t>
            </a:r>
            <a:endParaRPr lang="en-US" sz="1100" dirty="0"/>
          </a:p>
        </p:txBody>
      </p:sp>
      <p:sp>
        <p:nvSpPr>
          <p:cNvPr id="3" name="Text 9"/>
          <p:cNvSpPr/>
          <p:nvPr>
            <p:ph idx="110" type="title" hasCustomPrompt="1"/>
          </p:nvPr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Från videoannons till bokat hembesök</a:t>
            </a:r>
            <a:endParaRPr lang="en-US" sz="3000" dirty="0"/>
          </a:p>
        </p:txBody>
      </p:sp>
      <p:sp>
        <p:nvSpPr>
          <p:cNvPr id="4" name="REC dot"/>
          <p:cNvSpPr/>
          <p:nvPr/>
        </p:nvSpPr>
        <p:spPr>
          <a:xfrm>
            <a:off x="7360920" y="429768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imecode"/>
          <p:cNvSpPr txBox="1"/>
          <p:nvPr/>
        </p:nvSpPr>
        <p:spPr>
          <a:xfrm>
            <a:off x="7543800" y="365760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REC  00:00:03:00</a:t>
            </a:r>
            <a:endParaRPr lang="en-US" sz="900" dirty="0"/>
          </a:p>
        </p:txBody>
      </p:sp>
      <p:sp>
        <p:nvSpPr>
          <p:cNvPr id="6" name="Editor panel"/>
          <p:cNvSpPr/>
          <p:nvPr/>
        </p:nvSpPr>
        <p:spPr>
          <a:xfrm>
            <a:off x="548640" y="1554480"/>
            <a:ext cx="8046720" cy="2697480"/>
          </a:xfrm>
          <a:prstGeom prst="roundRect">
            <a:avLst>
              <a:gd name="adj" fmla="val 3390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34440" y="1700784"/>
            <a:ext cx="0" cy="54864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916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840" y="1700784"/>
            <a:ext cx="0" cy="54864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060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063240" y="1700784"/>
            <a:ext cx="0" cy="54864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204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77640" y="1700784"/>
            <a:ext cx="0" cy="54864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348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92040" y="1700784"/>
            <a:ext cx="0" cy="54864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492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06440" y="1700784"/>
            <a:ext cx="0" cy="54864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636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20840" y="1700784"/>
            <a:ext cx="0" cy="54864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780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35240" y="1700784"/>
            <a:ext cx="0" cy="54864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924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24" name="Clip 1"/>
          <p:cNvSpPr/>
          <p:nvPr/>
        </p:nvSpPr>
        <p:spPr>
          <a:xfrm>
            <a:off x="777240" y="1965960"/>
            <a:ext cx="182880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30552"/>
            <a:ext cx="237744" cy="237744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234440" y="196596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4"/>
                </a:solidFill>
              </a:rPr>
              <a:t>01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Videoannons</a:t>
            </a:r>
            <a:endParaRPr lang="en-US" sz="900" dirty="0"/>
          </a:p>
        </p:txBody>
      </p:sp>
      <p:sp>
        <p:nvSpPr>
          <p:cNvPr id="27" name="Keyframe 1"/>
          <p:cNvSpPr/>
          <p:nvPr/>
        </p:nvSpPr>
        <p:spPr>
          <a:xfrm>
            <a:off x="1618488" y="2670048"/>
            <a:ext cx="146304" cy="146304"/>
          </a:xfrm>
          <a:prstGeom prst="diamond">
            <a:avLst/>
          </a:prstGeom>
          <a:solidFill>
            <a:schemeClr val="accent6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77240" y="297180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Videoannonser av era bilder och filmer från färdiga jobb – eller med AI.</a:t>
            </a:r>
            <a:endParaRPr lang="en-US" sz="1400" dirty="0"/>
          </a:p>
        </p:txBody>
      </p:sp>
      <p:sp>
        <p:nvSpPr>
          <p:cNvPr id="29" name="Clip 2"/>
          <p:cNvSpPr/>
          <p:nvPr/>
        </p:nvSpPr>
        <p:spPr>
          <a:xfrm>
            <a:off x="2697480" y="1965960"/>
            <a:ext cx="182880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2130552"/>
            <a:ext cx="237744" cy="237744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3154680" y="196596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4"/>
                </a:solidFill>
              </a:rPr>
              <a:t>02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Rätt målgrupp</a:t>
            </a:r>
            <a:endParaRPr lang="en-US" sz="900" dirty="0"/>
          </a:p>
        </p:txBody>
      </p:sp>
      <p:sp>
        <p:nvSpPr>
          <p:cNvPr id="32" name="Keyframe 2"/>
          <p:cNvSpPr/>
          <p:nvPr/>
        </p:nvSpPr>
        <p:spPr>
          <a:xfrm>
            <a:off x="3538728" y="2670048"/>
            <a:ext cx="146304" cy="146304"/>
          </a:xfrm>
          <a:prstGeom prst="diamond">
            <a:avLst/>
          </a:prstGeom>
          <a:solidFill>
            <a:schemeClr val="accent6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2697480" y="297180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Betald annonsering via Meta till husägare i ert område, 300 kr/dag.</a:t>
            </a:r>
            <a:endParaRPr lang="en-US" sz="1400" dirty="0"/>
          </a:p>
        </p:txBody>
      </p:sp>
      <p:sp>
        <p:nvSpPr>
          <p:cNvPr id="34" name="Clip 3"/>
          <p:cNvSpPr/>
          <p:nvPr/>
        </p:nvSpPr>
        <p:spPr>
          <a:xfrm>
            <a:off x="4617720" y="1965960"/>
            <a:ext cx="182880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/>
        </p:spPr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130552"/>
            <a:ext cx="237744" cy="237744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5074920" y="196596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03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Vi kvalificerar</a:t>
            </a:r>
            <a:endParaRPr lang="en-US" sz="900" dirty="0"/>
          </a:p>
        </p:txBody>
      </p:sp>
      <p:sp>
        <p:nvSpPr>
          <p:cNvPr id="37" name="Keyframe 3"/>
          <p:cNvSpPr/>
          <p:nvPr/>
        </p:nvSpPr>
        <p:spPr>
          <a:xfrm>
            <a:off x="5458968" y="2670048"/>
            <a:ext cx="146304" cy="146304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4617720" y="297180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Formulär och SMS: projekt, budget och tidsplan. Prisjägarna sållas bort.</a:t>
            </a:r>
            <a:endParaRPr lang="en-US" sz="1400" dirty="0"/>
          </a:p>
        </p:txBody>
      </p:sp>
      <p:sp>
        <p:nvSpPr>
          <p:cNvPr id="39" name="Clip 4"/>
          <p:cNvSpPr/>
          <p:nvPr/>
        </p:nvSpPr>
        <p:spPr>
          <a:xfrm>
            <a:off x="6537960" y="1965960"/>
            <a:ext cx="182880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/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2130552"/>
            <a:ext cx="237744" cy="237744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6995160" y="196596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04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 din kalender</a:t>
            </a:r>
            <a:endParaRPr lang="en-US" sz="900" dirty="0"/>
          </a:p>
        </p:txBody>
      </p:sp>
      <p:sp>
        <p:nvSpPr>
          <p:cNvPr id="42" name="Keyframe 4"/>
          <p:cNvSpPr/>
          <p:nvPr/>
        </p:nvSpPr>
        <p:spPr>
          <a:xfrm>
            <a:off x="7379208" y="2670048"/>
            <a:ext cx="146304" cy="146304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43" name="Text 37"/>
          <p:cNvSpPr txBox="1"/>
          <p:nvPr/>
        </p:nvSpPr>
        <p:spPr>
          <a:xfrm>
            <a:off x="6537960" y="297180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Kunden bokas direkt in i er kalender. Ni åker ut och ger offert.</a:t>
            </a:r>
            <a:endParaRPr lang="en-US" sz="1400" dirty="0"/>
          </a:p>
        </p:txBody>
      </p:sp>
      <p:sp>
        <p:nvSpPr>
          <p:cNvPr id="44" name="Keyframe track"/>
          <p:cNvSpPr/>
          <p:nvPr/>
        </p:nvSpPr>
        <p:spPr>
          <a:xfrm>
            <a:off x="777240" y="2743200"/>
            <a:ext cx="7498080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45" name="Playhead"/>
          <p:cNvSpPr/>
          <p:nvPr/>
        </p:nvSpPr>
        <p:spPr>
          <a:xfrm>
            <a:off x="4572000" y="1645920"/>
            <a:ext cx="0" cy="118872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6" name="Playhead head"/>
          <p:cNvSpPr/>
          <p:nvPr/>
        </p:nvSpPr>
        <p:spPr>
          <a:xfrm rot="10800000">
            <a:off x="4480560" y="1609344"/>
            <a:ext cx="182880" cy="128016"/>
          </a:xfrm>
          <a:prstGeom prst="triangle">
            <a:avLst/>
          </a:prstGeom>
          <a:solidFill>
            <a:schemeClr val="bg1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80960" y="4681728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9"/>
          <p:cNvSpPr/>
          <p:nvPr>
            <p:ph idx="109" type="body" hasCustomPrompt="1"/>
          </p:nvPr>
        </p:nvSpPr>
        <p:spPr>
          <a:xfrm>
            <a:off x="54864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KVALIFICERING &amp; BOKNING</a:t>
            </a:r>
            <a:endParaRPr lang="en-US" sz="1100" dirty="0"/>
          </a:p>
        </p:txBody>
      </p:sp>
      <p:sp>
        <p:nvSpPr>
          <p:cNvPr id="3" name="Text 9"/>
          <p:cNvSpPr/>
          <p:nvPr>
            <p:ph idx="110" type="title" hasCustomPrompt="1"/>
          </p:nvPr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Kvalificerade leads – direkt i din kalender</a:t>
            </a:r>
            <a:endParaRPr lang="en-US" sz="3000" dirty="0"/>
          </a:p>
        </p:txBody>
      </p:sp>
      <p:sp>
        <p:nvSpPr>
          <p:cNvPr id="4" name="REC dot"/>
          <p:cNvSpPr/>
          <p:nvPr/>
        </p:nvSpPr>
        <p:spPr>
          <a:xfrm>
            <a:off x="7360920" y="429768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imecode"/>
          <p:cNvSpPr txBox="1"/>
          <p:nvPr/>
        </p:nvSpPr>
        <p:spPr>
          <a:xfrm>
            <a:off x="7543800" y="365760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REC  00:00:04:00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Vårt team kvalificerar via formulär och SMS och bokar in hembesöket åt dig. Kunden får uppföljningsmejl om ert företag så att de känner sig trygga med att välja er.</a:t>
            </a:r>
            <a:endParaRPr lang="en-US" sz="1400" dirty="0"/>
          </a:p>
        </p:txBody>
      </p:sp>
      <p:sp>
        <p:nvSpPr>
          <p:cNvPr id="7" name="Lead card"/>
          <p:cNvSpPr/>
          <p:nvPr/>
        </p:nvSpPr>
        <p:spPr>
          <a:xfrm>
            <a:off x="548640" y="1965960"/>
            <a:ext cx="356616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1031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Ny förfrågan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Anna L. · Täby</a:t>
            </a:r>
            <a:endParaRPr lang="en-US" sz="1400" dirty="0"/>
          </a:p>
        </p:txBody>
      </p:sp>
      <p:sp>
        <p:nvSpPr>
          <p:cNvPr id="9" name="Qualified badge"/>
          <p:cNvSpPr/>
          <p:nvPr/>
        </p:nvSpPr>
        <p:spPr>
          <a:xfrm>
            <a:off x="2788920" y="2157984"/>
            <a:ext cx="114300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788920" y="215798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KVALIFICERAD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77240" y="2651760"/>
            <a:ext cx="31089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770632"/>
            <a:ext cx="201168" cy="20116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097280" y="27249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Projekt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2057400" y="27249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Altan 30 kvm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77240" y="3063240"/>
            <a:ext cx="31089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82112"/>
            <a:ext cx="201168" cy="20116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97280" y="313639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Budget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2057400" y="31363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150–200 000 kr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777240" y="3474720"/>
            <a:ext cx="31089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593592"/>
            <a:ext cx="201168" cy="20116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0" y="354787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Start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2057400" y="35478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Inom 2 månader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777240" y="3886200"/>
            <a:ext cx="31089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005072"/>
            <a:ext cx="201168" cy="20116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097280" y="39593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Husägare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2057400" y="39593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Ja</a:t>
            </a:r>
            <a:endParaRPr lang="en-US" sz="1300" dirty="0"/>
          </a:p>
        </p:txBody>
      </p:sp>
      <p:sp>
        <p:nvSpPr>
          <p:cNvPr id="27" name="Flow arrow circle"/>
          <p:cNvSpPr/>
          <p:nvPr/>
        </p:nvSpPr>
        <p:spPr>
          <a:xfrm>
            <a:off x="4325112" y="2990088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8" name="Flow arrow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9412" y="3104388"/>
            <a:ext cx="228600" cy="228600"/>
          </a:xfrm>
          <a:prstGeom prst="rect">
            <a:avLst/>
          </a:prstGeom>
        </p:spPr>
      </p:pic>
      <p:sp>
        <p:nvSpPr>
          <p:cNvPr id="29" name="Calendar"/>
          <p:cNvSpPr/>
          <p:nvPr/>
        </p:nvSpPr>
        <p:spPr>
          <a:xfrm>
            <a:off x="4983480" y="1965960"/>
            <a:ext cx="361188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2080" y="2130552"/>
            <a:ext cx="219456" cy="21945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55321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Din kalender · 3 hembesök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5212080" y="2487168"/>
            <a:ext cx="630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Mån</a:t>
            </a:r>
            <a:endParaRPr lang="en-US" sz="1000" dirty="0"/>
          </a:p>
        </p:txBody>
      </p:sp>
      <p:sp>
        <p:nvSpPr>
          <p:cNvPr id="33" name="Text 25"/>
          <p:cNvSpPr txBox="1"/>
          <p:nvPr/>
        </p:nvSpPr>
        <p:spPr>
          <a:xfrm>
            <a:off x="5843016" y="2487168"/>
            <a:ext cx="630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Tis</a:t>
            </a:r>
            <a:endParaRPr lang="en-US" sz="1000" dirty="0"/>
          </a:p>
        </p:txBody>
      </p:sp>
      <p:sp>
        <p:nvSpPr>
          <p:cNvPr id="34" name="Shape 26"/>
          <p:cNvSpPr/>
          <p:nvPr/>
        </p:nvSpPr>
        <p:spPr>
          <a:xfrm>
            <a:off x="5843016" y="2743200"/>
            <a:ext cx="0" cy="155448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6473952" y="2487168"/>
            <a:ext cx="630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Ons</a:t>
            </a:r>
            <a:endParaRPr lang="en-US" sz="1000" dirty="0"/>
          </a:p>
        </p:txBody>
      </p:sp>
      <p:sp>
        <p:nvSpPr>
          <p:cNvPr id="36" name="Shape 28"/>
          <p:cNvSpPr/>
          <p:nvPr/>
        </p:nvSpPr>
        <p:spPr>
          <a:xfrm>
            <a:off x="6473952" y="2743200"/>
            <a:ext cx="0" cy="155448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7104888" y="2487168"/>
            <a:ext cx="630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Tor</a:t>
            </a:r>
            <a:endParaRPr lang="en-US" sz="1000" dirty="0"/>
          </a:p>
        </p:txBody>
      </p:sp>
      <p:sp>
        <p:nvSpPr>
          <p:cNvPr id="38" name="Shape 30"/>
          <p:cNvSpPr/>
          <p:nvPr/>
        </p:nvSpPr>
        <p:spPr>
          <a:xfrm>
            <a:off x="7104888" y="2743200"/>
            <a:ext cx="0" cy="155448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7735824" y="2487168"/>
            <a:ext cx="630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Fre</a:t>
            </a:r>
            <a:endParaRPr lang="en-US" sz="1000" dirty="0"/>
          </a:p>
        </p:txBody>
      </p:sp>
      <p:sp>
        <p:nvSpPr>
          <p:cNvPr id="40" name="Shape 32"/>
          <p:cNvSpPr/>
          <p:nvPr/>
        </p:nvSpPr>
        <p:spPr>
          <a:xfrm>
            <a:off x="7735824" y="2743200"/>
            <a:ext cx="0" cy="155448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5212080" y="2743200"/>
            <a:ext cx="315468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5212080" y="3264408"/>
            <a:ext cx="315468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3" name="Shape 35"/>
          <p:cNvSpPr/>
          <p:nvPr/>
        </p:nvSpPr>
        <p:spPr>
          <a:xfrm>
            <a:off x="5212080" y="3785616"/>
            <a:ext cx="315468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4" name="Shape 36"/>
          <p:cNvSpPr/>
          <p:nvPr/>
        </p:nvSpPr>
        <p:spPr>
          <a:xfrm>
            <a:off x="5212080" y="4297680"/>
            <a:ext cx="315468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5" name="Event Anna L."/>
          <p:cNvSpPr/>
          <p:nvPr/>
        </p:nvSpPr>
        <p:spPr>
          <a:xfrm>
            <a:off x="5248656" y="2779776"/>
            <a:ext cx="557784" cy="448056"/>
          </a:xfrm>
          <a:prstGeom prst="roundRect">
            <a:avLst>
              <a:gd name="adj" fmla="val 10204"/>
            </a:avLst>
          </a:prstGeom>
          <a:solidFill>
            <a:schemeClr val="accent1"/>
          </a:solidFill>
          <a:ln/>
        </p:spPr>
      </p:sp>
      <p:sp>
        <p:nvSpPr>
          <p:cNvPr id="46" name="Text 38"/>
          <p:cNvSpPr txBox="1"/>
          <p:nvPr/>
        </p:nvSpPr>
        <p:spPr>
          <a:xfrm>
            <a:off x="5248656" y="2779776"/>
            <a:ext cx="557784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Hembesök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chemeClr val="bg1"/>
                </a:solidFill>
              </a:rPr>
              <a:t>Anna L.</a:t>
            </a:r>
            <a:endParaRPr lang="en-US" sz="750" dirty="0"/>
          </a:p>
        </p:txBody>
      </p:sp>
      <p:sp>
        <p:nvSpPr>
          <p:cNvPr id="47" name="Event jobb"/>
          <p:cNvSpPr/>
          <p:nvPr/>
        </p:nvSpPr>
        <p:spPr>
          <a:xfrm>
            <a:off x="5879592" y="3822192"/>
            <a:ext cx="557784" cy="448056"/>
          </a:xfrm>
          <a:prstGeom prst="roundRect">
            <a:avLst>
              <a:gd name="adj" fmla="val 10204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5879592" y="3822192"/>
            <a:ext cx="557784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3"/>
                </a:solidFill>
              </a:rPr>
              <a:t>Pågående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jobb</a:t>
            </a:r>
            <a:endParaRPr lang="en-US" sz="750" dirty="0"/>
          </a:p>
        </p:txBody>
      </p:sp>
      <p:sp>
        <p:nvSpPr>
          <p:cNvPr id="49" name="Event Erik S."/>
          <p:cNvSpPr/>
          <p:nvPr/>
        </p:nvSpPr>
        <p:spPr>
          <a:xfrm>
            <a:off x="6510528" y="3300984"/>
            <a:ext cx="557784" cy="448056"/>
          </a:xfrm>
          <a:prstGeom prst="roundRect">
            <a:avLst>
              <a:gd name="adj" fmla="val 10204"/>
            </a:avLst>
          </a:prstGeom>
          <a:solidFill>
            <a:schemeClr val="accent1"/>
          </a:solidFill>
          <a:ln/>
        </p:spPr>
      </p:sp>
      <p:sp>
        <p:nvSpPr>
          <p:cNvPr id="50" name="Text 42"/>
          <p:cNvSpPr txBox="1"/>
          <p:nvPr/>
        </p:nvSpPr>
        <p:spPr>
          <a:xfrm>
            <a:off x="6510528" y="3300984"/>
            <a:ext cx="557784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Hembesök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chemeClr val="bg1"/>
                </a:solidFill>
              </a:rPr>
              <a:t>Erik S.</a:t>
            </a:r>
            <a:endParaRPr lang="en-US" sz="750" dirty="0"/>
          </a:p>
        </p:txBody>
      </p:sp>
      <p:sp>
        <p:nvSpPr>
          <p:cNvPr id="51" name="Event jobb"/>
          <p:cNvSpPr/>
          <p:nvPr/>
        </p:nvSpPr>
        <p:spPr>
          <a:xfrm>
            <a:off x="7141464" y="2779776"/>
            <a:ext cx="557784" cy="448056"/>
          </a:xfrm>
          <a:prstGeom prst="roundRect">
            <a:avLst>
              <a:gd name="adj" fmla="val 10204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2" name="Text 44"/>
          <p:cNvSpPr txBox="1"/>
          <p:nvPr/>
        </p:nvSpPr>
        <p:spPr>
          <a:xfrm>
            <a:off x="7141464" y="2779776"/>
            <a:ext cx="557784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3"/>
                </a:solidFill>
              </a:rPr>
              <a:t>Pågående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jobb</a:t>
            </a:r>
            <a:endParaRPr lang="en-US" sz="750" dirty="0"/>
          </a:p>
        </p:txBody>
      </p:sp>
      <p:sp>
        <p:nvSpPr>
          <p:cNvPr id="53" name="Event Maria K."/>
          <p:cNvSpPr/>
          <p:nvPr/>
        </p:nvSpPr>
        <p:spPr>
          <a:xfrm>
            <a:off x="7772400" y="3822192"/>
            <a:ext cx="557784" cy="448056"/>
          </a:xfrm>
          <a:prstGeom prst="roundRect">
            <a:avLst>
              <a:gd name="adj" fmla="val 10204"/>
            </a:avLst>
          </a:prstGeom>
          <a:solidFill>
            <a:schemeClr val="accent1"/>
          </a:solidFill>
          <a:ln/>
        </p:spPr>
      </p:sp>
      <p:sp>
        <p:nvSpPr>
          <p:cNvPr id="54" name="Text 46"/>
          <p:cNvSpPr txBox="1"/>
          <p:nvPr/>
        </p:nvSpPr>
        <p:spPr>
          <a:xfrm>
            <a:off x="7772400" y="3822192"/>
            <a:ext cx="557784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Hembesök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chemeClr val="bg1"/>
                </a:solidFill>
              </a:rPr>
              <a:t>Maria K.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80960" y="4681728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9"/>
          <p:cNvSpPr/>
          <p:nvPr>
            <p:ph idx="109" type="body" hasCustomPrompt="1"/>
          </p:nvPr>
        </p:nvSpPr>
        <p:spPr>
          <a:xfrm>
            <a:off x="54864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APPEN</a:t>
            </a:r>
            <a:endParaRPr lang="en-US" sz="1100" dirty="0"/>
          </a:p>
        </p:txBody>
      </p:sp>
      <p:sp>
        <p:nvSpPr>
          <p:cNvPr id="3" name="Text 9"/>
          <p:cNvSpPr/>
          <p:nvPr>
            <p:ph idx="110" type="title" hasCustomPrompt="1"/>
          </p:nvPr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Full överblick – i mobilen och på datorn</a:t>
            </a:r>
            <a:endParaRPr lang="en-US" sz="3000" dirty="0"/>
          </a:p>
        </p:txBody>
      </p:sp>
      <p:sp>
        <p:nvSpPr>
          <p:cNvPr id="4" name="REC dot"/>
          <p:cNvSpPr/>
          <p:nvPr/>
        </p:nvSpPr>
        <p:spPr>
          <a:xfrm>
            <a:off x="7360920" y="429768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imecode"/>
          <p:cNvSpPr txBox="1"/>
          <p:nvPr/>
        </p:nvSpPr>
        <p:spPr>
          <a:xfrm>
            <a:off x="7543800" y="365760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REC  00:00:05:00</a:t>
            </a:r>
            <a:endParaRPr lang="en-US" sz="900" dirty="0"/>
          </a:p>
        </p:txBody>
      </p:sp>
      <p:sp>
        <p:nvSpPr>
          <p:cNvPr id="6" name="Glow"/>
          <p:cNvSpPr/>
          <p:nvPr/>
        </p:nvSpPr>
        <p:spPr>
          <a:xfrm>
            <a:off x="5669280" y="1417320"/>
            <a:ext cx="3017520" cy="3017520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7" name="App mockup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371600"/>
            <a:ext cx="1645920" cy="3346704"/>
          </a:xfrm>
          <a:prstGeom prst="rect">
            <a:avLst/>
          </a:prstGeom>
        </p:spPr>
      </p:pic>
      <p:sp>
        <p:nvSpPr>
          <p:cNvPr id="8" name="Feature 1 circle"/>
          <p:cNvSpPr/>
          <p:nvPr/>
        </p:nvSpPr>
        <p:spPr>
          <a:xfrm>
            <a:off x="548640" y="160934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9" name="Feature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1723644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8720" y="157276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Alla hembesök samlade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Ett enkelt kalendersystem med adress och info om jobbet.</a:t>
            </a:r>
            <a:endParaRPr lang="en-US" sz="1500" dirty="0"/>
          </a:p>
        </p:txBody>
      </p:sp>
      <p:sp>
        <p:nvSpPr>
          <p:cNvPr id="11" name="Feature 2 circle"/>
          <p:cNvSpPr/>
          <p:nvPr/>
        </p:nvSpPr>
        <p:spPr>
          <a:xfrm>
            <a:off x="548640" y="234086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Feature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2455164"/>
            <a:ext cx="228600" cy="228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88720" y="230428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SMS-notis vid varje bokning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Du får besked direkt när ett hembesök bokas in.</a:t>
            </a:r>
            <a:endParaRPr lang="en-US" sz="1500" dirty="0"/>
          </a:p>
        </p:txBody>
      </p:sp>
      <p:sp>
        <p:nvSpPr>
          <p:cNvPr id="14" name="Feature 3 circle"/>
          <p:cNvSpPr/>
          <p:nvPr/>
        </p:nvSpPr>
        <p:spPr>
          <a:xfrm>
            <a:off x="548640" y="307238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3186684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188720" y="303580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Chatta med leads via SMS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All kontakt med kunderna på ett ställe.</a:t>
            </a:r>
            <a:endParaRPr lang="en-US" sz="1500" dirty="0"/>
          </a:p>
        </p:txBody>
      </p:sp>
      <p:sp>
        <p:nvSpPr>
          <p:cNvPr id="17" name="Feature 4 circle"/>
          <p:cNvSpPr/>
          <p:nvPr/>
        </p:nvSpPr>
        <p:spPr>
          <a:xfrm>
            <a:off x="548640" y="380390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8" name="Feature 4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" y="3918204"/>
            <a:ext cx="228600" cy="2286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18872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Överblick och statistik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Se hur många hembesök som bokas varje månad.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80960" y="4681728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9"/>
          <p:cNvSpPr/>
          <p:nvPr>
            <p:ph idx="109" type="body" hasCustomPrompt="1"/>
          </p:nvPr>
        </p:nvSpPr>
        <p:spPr>
          <a:xfrm>
            <a:off x="54864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PRISMODELL</a:t>
            </a:r>
            <a:endParaRPr lang="en-US" sz="1100" dirty="0"/>
          </a:p>
        </p:txBody>
      </p:sp>
      <p:sp>
        <p:nvSpPr>
          <p:cNvPr id="3" name="Text 9"/>
          <p:cNvSpPr/>
          <p:nvPr>
            <p:ph idx="110" type="title" hasCustomPrompt="1"/>
          </p:nvPr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Ni betalar för resultat</a:t>
            </a:r>
            <a:endParaRPr lang="en-US" sz="3000" dirty="0"/>
          </a:p>
        </p:txBody>
      </p:sp>
      <p:sp>
        <p:nvSpPr>
          <p:cNvPr id="4" name="REC dot"/>
          <p:cNvSpPr/>
          <p:nvPr/>
        </p:nvSpPr>
        <p:spPr>
          <a:xfrm>
            <a:off x="7360920" y="429768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imecode"/>
          <p:cNvSpPr txBox="1"/>
          <p:nvPr/>
        </p:nvSpPr>
        <p:spPr>
          <a:xfrm>
            <a:off x="7543800" y="365760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REC  00:00:06:00</a:t>
            </a:r>
            <a:endParaRPr lang="en-US" sz="900" dirty="0"/>
          </a:p>
        </p:txBody>
      </p:sp>
      <p:sp>
        <p:nvSpPr>
          <p:cNvPr id="6" name="Price 500 kr"/>
          <p:cNvSpPr/>
          <p:nvPr/>
        </p:nvSpPr>
        <p:spPr>
          <a:xfrm>
            <a:off x="548640" y="1600200"/>
            <a:ext cx="2560320" cy="2788920"/>
          </a:xfrm>
          <a:prstGeom prst="roundRect">
            <a:avLst>
              <a:gd name="adj" fmla="val 3571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Price icon 1 circle"/>
          <p:cNvSpPr/>
          <p:nvPr/>
        </p:nvSpPr>
        <p:spPr>
          <a:xfrm>
            <a:off x="804672" y="18288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Price ic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402" y="1954530"/>
            <a:ext cx="251460" cy="2514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04672" y="246888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500 kr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04672" y="309067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per bokat hembesök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04672" y="34747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För varje kvalificerat hembesök vi bokar in i er kalender.</a:t>
            </a:r>
            <a:endParaRPr lang="en-US" sz="1400" dirty="0"/>
          </a:p>
        </p:txBody>
      </p:sp>
      <p:sp>
        <p:nvSpPr>
          <p:cNvPr id="12" name="Price 5 %"/>
          <p:cNvSpPr/>
          <p:nvPr/>
        </p:nvSpPr>
        <p:spPr>
          <a:xfrm>
            <a:off x="3291840" y="1600200"/>
            <a:ext cx="2560320" cy="2788920"/>
          </a:xfrm>
          <a:prstGeom prst="roundRect">
            <a:avLst>
              <a:gd name="adj" fmla="val 3571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Price icon 2 circle"/>
          <p:cNvSpPr/>
          <p:nvPr/>
        </p:nvSpPr>
        <p:spPr>
          <a:xfrm>
            <a:off x="3547872" y="18288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Price ic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3602" y="1954530"/>
            <a:ext cx="251460" cy="25146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547872" y="246888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5 %</a:t>
            </a:r>
            <a:endParaRPr lang="en-US" sz="3600" dirty="0"/>
          </a:p>
        </p:txBody>
      </p:sp>
      <p:sp>
        <p:nvSpPr>
          <p:cNvPr id="16" name="Text 12"/>
          <p:cNvSpPr txBox="1"/>
          <p:nvPr/>
        </p:nvSpPr>
        <p:spPr>
          <a:xfrm>
            <a:off x="3547872" y="309067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av vinsten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3547872" y="34747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På de jobb ni vinner från våra hembesök.</a:t>
            </a:r>
            <a:endParaRPr lang="en-US" sz="1400" dirty="0"/>
          </a:p>
        </p:txBody>
      </p:sp>
      <p:sp>
        <p:nvSpPr>
          <p:cNvPr id="18" name="Price 300 kr"/>
          <p:cNvSpPr/>
          <p:nvPr/>
        </p:nvSpPr>
        <p:spPr>
          <a:xfrm>
            <a:off x="6035040" y="1600200"/>
            <a:ext cx="2560320" cy="2788920"/>
          </a:xfrm>
          <a:prstGeom prst="roundRect">
            <a:avLst>
              <a:gd name="adj" fmla="val 3571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Price icon 3 circle"/>
          <p:cNvSpPr/>
          <p:nvPr/>
        </p:nvSpPr>
        <p:spPr>
          <a:xfrm>
            <a:off x="6291072" y="18288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Price ic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802" y="1954530"/>
            <a:ext cx="251460" cy="2514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291072" y="246888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300 kr</a:t>
            </a:r>
            <a:endParaRPr lang="en-US" sz="3600" dirty="0"/>
          </a:p>
        </p:txBody>
      </p:sp>
      <p:sp>
        <p:nvSpPr>
          <p:cNvPr id="22" name="Text 17"/>
          <p:cNvSpPr txBox="1"/>
          <p:nvPr/>
        </p:nvSpPr>
        <p:spPr>
          <a:xfrm>
            <a:off x="6291072" y="309067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per dag i annonser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6291072" y="34747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Går direkt till Meta och syns i ert eget annonskonto.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80960" y="4681728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 dot"/>
          <p:cNvSpPr/>
          <p:nvPr/>
        </p:nvSpPr>
        <p:spPr>
          <a:xfrm>
            <a:off x="7360920" y="429768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" name="Timecode"/>
          <p:cNvSpPr txBox="1"/>
          <p:nvPr/>
        </p:nvSpPr>
        <p:spPr>
          <a:xfrm>
            <a:off x="7543800" y="365760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REC  00:00:07:00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NÄSTA STEG</a:t>
            </a:r>
            <a:endParaRPr lang="en-US" sz="1100" dirty="0"/>
          </a:p>
        </p:txBody>
      </p:sp>
      <p:sp>
        <p:nvSpPr>
          <p:cNvPr id="5" name="Closing title"/>
          <p:cNvSpPr txBox="1"/>
          <p:nvPr/>
        </p:nvSpPr>
        <p:spPr>
          <a:xfrm>
            <a:off x="548640" y="82296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Ska vi fylla din </a:t>
            </a:r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kalender?</a:t>
            </a:r>
            <a:endParaRPr lang="en-US" sz="4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40864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96112" y="228600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Videoannonser som visar ert hantverk</a:t>
            </a:r>
            <a:endParaRPr lang="en-US" sz="15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52344"/>
            <a:ext cx="219456" cy="21945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96112" y="269748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Vi kvalificerar varje lead</a:t>
            </a:r>
            <a:endParaRPr lang="en-US" sz="15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63824"/>
            <a:ext cx="219456" cy="21945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96112" y="310896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Hembesöken bokas direkt i din kalender</a:t>
            </a:r>
            <a:endParaRPr lang="en-US" sz="1500" dirty="0"/>
          </a:p>
        </p:txBody>
      </p:sp>
      <p:sp>
        <p:nvSpPr>
          <p:cNvPr id="12" name="CTA button"/>
          <p:cNvSpPr/>
          <p:nvPr/>
        </p:nvSpPr>
        <p:spPr>
          <a:xfrm>
            <a:off x="548640" y="3657600"/>
            <a:ext cx="2926080" cy="47548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548640" y="365760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Ja – vi kör igång idag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4206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Signera digitalt och skicka bilder och filmer – sedan sätter vi igång.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zdanmotion.se</a:t>
            </a:r>
            <a:endParaRPr lang="en-US" sz="1000" dirty="0"/>
          </a:p>
        </p:txBody>
      </p:sp>
      <p:sp>
        <p:nvSpPr>
          <p:cNvPr id="16" name="Month calendar"/>
          <p:cNvSpPr/>
          <p:nvPr/>
        </p:nvSpPr>
        <p:spPr>
          <a:xfrm>
            <a:off x="5577840" y="868680"/>
            <a:ext cx="3017520" cy="36118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5806440" y="1051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Din kalender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806440" y="13258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12 hembesök bokade denna månad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5806440" y="1645920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M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6318504" y="1645920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T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6830568" y="1645920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O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7342632" y="1645920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T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7854696" y="1645920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F</a:t>
            </a:r>
            <a:endParaRPr lang="en-US" sz="900" dirty="0"/>
          </a:p>
        </p:txBody>
      </p:sp>
      <p:sp>
        <p:nvSpPr>
          <p:cNvPr id="24" name="Day 1"/>
          <p:cNvSpPr/>
          <p:nvPr/>
        </p:nvSpPr>
        <p:spPr>
          <a:xfrm>
            <a:off x="5833872" y="1874520"/>
            <a:ext cx="457200" cy="566928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5879592" y="1901952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3</a:t>
            </a:r>
            <a:endParaRPr lang="en-US" sz="80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1888" y="2130552"/>
            <a:ext cx="201168" cy="201168"/>
          </a:xfrm>
          <a:prstGeom prst="rect">
            <a:avLst/>
          </a:prstGeom>
        </p:spPr>
      </p:pic>
      <p:sp>
        <p:nvSpPr>
          <p:cNvPr id="27" name="Day 2"/>
          <p:cNvSpPr/>
          <p:nvPr/>
        </p:nvSpPr>
        <p:spPr>
          <a:xfrm>
            <a:off x="6345936" y="1874520"/>
            <a:ext cx="457200" cy="566928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6391656" y="1901952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chemeClr val="accent3"/>
                </a:solidFill>
              </a:rPr>
              <a:t>4</a:t>
            </a:r>
            <a:endParaRPr lang="en-US" sz="800" dirty="0"/>
          </a:p>
        </p:txBody>
      </p:sp>
      <p:sp>
        <p:nvSpPr>
          <p:cNvPr id="29" name="Day 3"/>
          <p:cNvSpPr/>
          <p:nvPr/>
        </p:nvSpPr>
        <p:spPr>
          <a:xfrm>
            <a:off x="6858000" y="1874520"/>
            <a:ext cx="457200" cy="566928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6903720" y="1901952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5</a:t>
            </a:r>
            <a:endParaRPr lang="en-US" sz="800" dirty="0"/>
          </a:p>
        </p:txBody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6016" y="2130552"/>
            <a:ext cx="201168" cy="201168"/>
          </a:xfrm>
          <a:prstGeom prst="rect">
            <a:avLst/>
          </a:prstGeom>
        </p:spPr>
      </p:pic>
      <p:sp>
        <p:nvSpPr>
          <p:cNvPr id="32" name="Day 4"/>
          <p:cNvSpPr/>
          <p:nvPr/>
        </p:nvSpPr>
        <p:spPr>
          <a:xfrm>
            <a:off x="7370064" y="1874520"/>
            <a:ext cx="457200" cy="566928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7415784" y="1901952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6</a:t>
            </a:r>
            <a:endParaRPr lang="en-US" sz="800" dirty="0"/>
          </a:p>
        </p:txBody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0" y="2130552"/>
            <a:ext cx="201168" cy="201168"/>
          </a:xfrm>
          <a:prstGeom prst="rect">
            <a:avLst/>
          </a:prstGeom>
        </p:spPr>
      </p:pic>
      <p:sp>
        <p:nvSpPr>
          <p:cNvPr id="35" name="Day 5"/>
          <p:cNvSpPr/>
          <p:nvPr/>
        </p:nvSpPr>
        <p:spPr>
          <a:xfrm>
            <a:off x="7882128" y="1874520"/>
            <a:ext cx="457200" cy="566928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7927848" y="1901952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chemeClr val="accent3"/>
                </a:solidFill>
              </a:rPr>
              <a:t>7</a:t>
            </a:r>
            <a:endParaRPr lang="en-US" sz="800" dirty="0"/>
          </a:p>
        </p:txBody>
      </p:sp>
      <p:sp>
        <p:nvSpPr>
          <p:cNvPr id="37" name="Day 6"/>
          <p:cNvSpPr/>
          <p:nvPr/>
        </p:nvSpPr>
        <p:spPr>
          <a:xfrm>
            <a:off x="5833872" y="2496312"/>
            <a:ext cx="457200" cy="566928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5879592" y="252374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chemeClr val="accent3"/>
                </a:solidFill>
              </a:rPr>
              <a:t>8</a:t>
            </a:r>
            <a:endParaRPr lang="en-US" sz="800" dirty="0"/>
          </a:p>
        </p:txBody>
      </p:sp>
      <p:sp>
        <p:nvSpPr>
          <p:cNvPr id="39" name="Day 7"/>
          <p:cNvSpPr/>
          <p:nvPr/>
        </p:nvSpPr>
        <p:spPr>
          <a:xfrm>
            <a:off x="6345936" y="2496312"/>
            <a:ext cx="457200" cy="566928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</p:sp>
      <p:sp>
        <p:nvSpPr>
          <p:cNvPr id="40" name="Text 32"/>
          <p:cNvSpPr txBox="1"/>
          <p:nvPr/>
        </p:nvSpPr>
        <p:spPr>
          <a:xfrm>
            <a:off x="6391656" y="252374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9</a:t>
            </a:r>
            <a:endParaRPr lang="en-US" sz="800" dirty="0"/>
          </a:p>
        </p:txBody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3952" y="2752344"/>
            <a:ext cx="201168" cy="201168"/>
          </a:xfrm>
          <a:prstGeom prst="rect">
            <a:avLst/>
          </a:prstGeom>
        </p:spPr>
      </p:pic>
      <p:sp>
        <p:nvSpPr>
          <p:cNvPr id="42" name="Day 8"/>
          <p:cNvSpPr/>
          <p:nvPr/>
        </p:nvSpPr>
        <p:spPr>
          <a:xfrm>
            <a:off x="6858000" y="2496312"/>
            <a:ext cx="457200" cy="566928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3" name="Text 34"/>
          <p:cNvSpPr txBox="1"/>
          <p:nvPr/>
        </p:nvSpPr>
        <p:spPr>
          <a:xfrm>
            <a:off x="6903720" y="252374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chemeClr val="accent3"/>
                </a:solidFill>
              </a:rPr>
              <a:t>10</a:t>
            </a:r>
            <a:endParaRPr lang="en-US" sz="800" dirty="0"/>
          </a:p>
        </p:txBody>
      </p:sp>
      <p:sp>
        <p:nvSpPr>
          <p:cNvPr id="44" name="Day 9"/>
          <p:cNvSpPr/>
          <p:nvPr/>
        </p:nvSpPr>
        <p:spPr>
          <a:xfrm>
            <a:off x="7370064" y="2496312"/>
            <a:ext cx="457200" cy="566928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</p:sp>
      <p:sp>
        <p:nvSpPr>
          <p:cNvPr id="45" name="Text 36"/>
          <p:cNvSpPr txBox="1"/>
          <p:nvPr/>
        </p:nvSpPr>
        <p:spPr>
          <a:xfrm>
            <a:off x="7415784" y="252374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11</a:t>
            </a:r>
            <a:endParaRPr lang="en-US" sz="800" dirty="0"/>
          </a:p>
        </p:txBody>
      </p:sp>
      <p:pic>
        <p:nvPicPr>
          <p:cNvPr id="4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98080" y="2752344"/>
            <a:ext cx="201168" cy="201168"/>
          </a:xfrm>
          <a:prstGeom prst="rect">
            <a:avLst/>
          </a:prstGeom>
        </p:spPr>
      </p:pic>
      <p:sp>
        <p:nvSpPr>
          <p:cNvPr id="47" name="Day 10"/>
          <p:cNvSpPr/>
          <p:nvPr/>
        </p:nvSpPr>
        <p:spPr>
          <a:xfrm>
            <a:off x="7882128" y="2496312"/>
            <a:ext cx="457200" cy="566928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</p:sp>
      <p:sp>
        <p:nvSpPr>
          <p:cNvPr id="48" name="Text 38"/>
          <p:cNvSpPr txBox="1"/>
          <p:nvPr/>
        </p:nvSpPr>
        <p:spPr>
          <a:xfrm>
            <a:off x="7927848" y="252374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12</a:t>
            </a:r>
            <a:endParaRPr lang="en-US" sz="800" dirty="0"/>
          </a:p>
        </p:txBody>
      </p:sp>
      <p:pic>
        <p:nvPicPr>
          <p:cNvPr id="4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10144" y="2752344"/>
            <a:ext cx="201168" cy="201168"/>
          </a:xfrm>
          <a:prstGeom prst="rect">
            <a:avLst/>
          </a:prstGeom>
        </p:spPr>
      </p:pic>
      <p:sp>
        <p:nvSpPr>
          <p:cNvPr id="50" name="Day 11"/>
          <p:cNvSpPr/>
          <p:nvPr/>
        </p:nvSpPr>
        <p:spPr>
          <a:xfrm>
            <a:off x="5833872" y="3118104"/>
            <a:ext cx="457200" cy="566928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5879592" y="3145536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chemeClr val="accent3"/>
                </a:solidFill>
              </a:rPr>
              <a:t>13</a:t>
            </a:r>
            <a:endParaRPr lang="en-US" sz="800" dirty="0"/>
          </a:p>
        </p:txBody>
      </p:sp>
      <p:sp>
        <p:nvSpPr>
          <p:cNvPr id="52" name="Day 12"/>
          <p:cNvSpPr/>
          <p:nvPr/>
        </p:nvSpPr>
        <p:spPr>
          <a:xfrm>
            <a:off x="6345936" y="3118104"/>
            <a:ext cx="457200" cy="566928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</p:sp>
      <p:sp>
        <p:nvSpPr>
          <p:cNvPr id="53" name="Text 42"/>
          <p:cNvSpPr txBox="1"/>
          <p:nvPr/>
        </p:nvSpPr>
        <p:spPr>
          <a:xfrm>
            <a:off x="6391656" y="3145536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14</a:t>
            </a:r>
            <a:endParaRPr lang="en-US" sz="800" dirty="0"/>
          </a:p>
        </p:txBody>
      </p:sp>
      <p:pic>
        <p:nvPicPr>
          <p:cNvPr id="5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3952" y="3374136"/>
            <a:ext cx="201168" cy="201168"/>
          </a:xfrm>
          <a:prstGeom prst="rect">
            <a:avLst/>
          </a:prstGeom>
        </p:spPr>
      </p:pic>
      <p:sp>
        <p:nvSpPr>
          <p:cNvPr id="55" name="Day 13"/>
          <p:cNvSpPr/>
          <p:nvPr/>
        </p:nvSpPr>
        <p:spPr>
          <a:xfrm>
            <a:off x="6858000" y="3118104"/>
            <a:ext cx="457200" cy="566928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</p:sp>
      <p:sp>
        <p:nvSpPr>
          <p:cNvPr id="56" name="Text 44"/>
          <p:cNvSpPr txBox="1"/>
          <p:nvPr/>
        </p:nvSpPr>
        <p:spPr>
          <a:xfrm>
            <a:off x="6903720" y="3145536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15</a:t>
            </a:r>
            <a:endParaRPr lang="en-US" sz="800" dirty="0"/>
          </a:p>
        </p:txBody>
      </p:sp>
      <p:pic>
        <p:nvPicPr>
          <p:cNvPr id="5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86016" y="3374136"/>
            <a:ext cx="201168" cy="201168"/>
          </a:xfrm>
          <a:prstGeom prst="rect">
            <a:avLst/>
          </a:prstGeom>
        </p:spPr>
      </p:pic>
      <p:sp>
        <p:nvSpPr>
          <p:cNvPr id="58" name="Day 14"/>
          <p:cNvSpPr/>
          <p:nvPr/>
        </p:nvSpPr>
        <p:spPr>
          <a:xfrm>
            <a:off x="7370064" y="3118104"/>
            <a:ext cx="457200" cy="566928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9" name="Text 46"/>
          <p:cNvSpPr txBox="1"/>
          <p:nvPr/>
        </p:nvSpPr>
        <p:spPr>
          <a:xfrm>
            <a:off x="7415784" y="3145536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chemeClr val="accent3"/>
                </a:solidFill>
              </a:rPr>
              <a:t>16</a:t>
            </a:r>
            <a:endParaRPr lang="en-US" sz="800" dirty="0"/>
          </a:p>
        </p:txBody>
      </p:sp>
      <p:sp>
        <p:nvSpPr>
          <p:cNvPr id="60" name="Day 15"/>
          <p:cNvSpPr/>
          <p:nvPr/>
        </p:nvSpPr>
        <p:spPr>
          <a:xfrm>
            <a:off x="7882128" y="3118104"/>
            <a:ext cx="457200" cy="566928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</p:sp>
      <p:sp>
        <p:nvSpPr>
          <p:cNvPr id="61" name="Text 48"/>
          <p:cNvSpPr txBox="1"/>
          <p:nvPr/>
        </p:nvSpPr>
        <p:spPr>
          <a:xfrm>
            <a:off x="7927848" y="3145536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17</a:t>
            </a:r>
            <a:endParaRPr lang="en-US" sz="800" dirty="0"/>
          </a:p>
        </p:txBody>
      </p:sp>
      <p:pic>
        <p:nvPicPr>
          <p:cNvPr id="6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10144" y="3374136"/>
            <a:ext cx="201168" cy="201168"/>
          </a:xfrm>
          <a:prstGeom prst="rect">
            <a:avLst/>
          </a:prstGeom>
        </p:spPr>
      </p:pic>
      <p:sp>
        <p:nvSpPr>
          <p:cNvPr id="63" name="Day 16"/>
          <p:cNvSpPr/>
          <p:nvPr/>
        </p:nvSpPr>
        <p:spPr>
          <a:xfrm>
            <a:off x="5833872" y="3739896"/>
            <a:ext cx="457200" cy="566928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4" name="Text 50"/>
          <p:cNvSpPr txBox="1"/>
          <p:nvPr/>
        </p:nvSpPr>
        <p:spPr>
          <a:xfrm>
            <a:off x="5879592" y="376732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chemeClr val="accent3"/>
                </a:solidFill>
              </a:rPr>
              <a:t>18</a:t>
            </a:r>
            <a:endParaRPr lang="en-US" sz="800" dirty="0"/>
          </a:p>
        </p:txBody>
      </p:sp>
      <p:sp>
        <p:nvSpPr>
          <p:cNvPr id="65" name="Day 17"/>
          <p:cNvSpPr/>
          <p:nvPr/>
        </p:nvSpPr>
        <p:spPr>
          <a:xfrm>
            <a:off x="6345936" y="3739896"/>
            <a:ext cx="457200" cy="566928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</p:sp>
      <p:sp>
        <p:nvSpPr>
          <p:cNvPr id="66" name="Text 52"/>
          <p:cNvSpPr txBox="1"/>
          <p:nvPr/>
        </p:nvSpPr>
        <p:spPr>
          <a:xfrm>
            <a:off x="6391656" y="376732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19</a:t>
            </a:r>
            <a:endParaRPr lang="en-US" sz="800" dirty="0"/>
          </a:p>
        </p:txBody>
      </p:sp>
      <p:pic>
        <p:nvPicPr>
          <p:cNvPr id="6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73952" y="3995928"/>
            <a:ext cx="201168" cy="201168"/>
          </a:xfrm>
          <a:prstGeom prst="rect">
            <a:avLst/>
          </a:prstGeom>
        </p:spPr>
      </p:pic>
      <p:sp>
        <p:nvSpPr>
          <p:cNvPr id="68" name="Day 18"/>
          <p:cNvSpPr/>
          <p:nvPr/>
        </p:nvSpPr>
        <p:spPr>
          <a:xfrm>
            <a:off x="6858000" y="3739896"/>
            <a:ext cx="457200" cy="566928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</p:sp>
      <p:sp>
        <p:nvSpPr>
          <p:cNvPr id="69" name="Text 54"/>
          <p:cNvSpPr txBox="1"/>
          <p:nvPr/>
        </p:nvSpPr>
        <p:spPr>
          <a:xfrm>
            <a:off x="6903720" y="376732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20</a:t>
            </a:r>
            <a:endParaRPr lang="en-US" sz="800" dirty="0"/>
          </a:p>
        </p:txBody>
      </p:sp>
      <p:pic>
        <p:nvPicPr>
          <p:cNvPr id="7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86016" y="3995928"/>
            <a:ext cx="201168" cy="201168"/>
          </a:xfrm>
          <a:prstGeom prst="rect">
            <a:avLst/>
          </a:prstGeom>
        </p:spPr>
      </p:pic>
      <p:sp>
        <p:nvSpPr>
          <p:cNvPr id="71" name="Day 19"/>
          <p:cNvSpPr/>
          <p:nvPr/>
        </p:nvSpPr>
        <p:spPr>
          <a:xfrm>
            <a:off x="7370064" y="3739896"/>
            <a:ext cx="457200" cy="566928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2" name="Text 56"/>
          <p:cNvSpPr txBox="1"/>
          <p:nvPr/>
        </p:nvSpPr>
        <p:spPr>
          <a:xfrm>
            <a:off x="7415784" y="376732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chemeClr val="accent3"/>
                </a:solidFill>
              </a:rPr>
              <a:t>21</a:t>
            </a:r>
            <a:endParaRPr lang="en-US" sz="800" dirty="0"/>
          </a:p>
        </p:txBody>
      </p:sp>
      <p:sp>
        <p:nvSpPr>
          <p:cNvPr id="73" name="Day 20"/>
          <p:cNvSpPr/>
          <p:nvPr/>
        </p:nvSpPr>
        <p:spPr>
          <a:xfrm>
            <a:off x="7882128" y="3739896"/>
            <a:ext cx="457200" cy="566928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</p:sp>
      <p:sp>
        <p:nvSpPr>
          <p:cNvPr id="74" name="Text 58"/>
          <p:cNvSpPr txBox="1"/>
          <p:nvPr/>
        </p:nvSpPr>
        <p:spPr>
          <a:xfrm>
            <a:off x="7927848" y="376732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22</a:t>
            </a:r>
            <a:endParaRPr lang="en-US" sz="800" dirty="0"/>
          </a:p>
        </p:txBody>
      </p:sp>
      <p:pic>
        <p:nvPicPr>
          <p:cNvPr id="75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010144" y="3995928"/>
            <a:ext cx="201168" cy="20116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Zdanmotion Bygg">
  <a:themeElements>
    <a:clrScheme name="Zdanmotion Bygg">
      <a:dk1>
        <a:srgbClr val="1C1F22"/>
      </a:dk1>
      <a:lt1>
        <a:srgbClr val="FFFFFF"/>
      </a:lt1>
      <a:dk2>
        <a:srgbClr val="2A2E32"/>
      </a:dk2>
      <a:lt2>
        <a:srgbClr val="F7F6F3"/>
      </a:lt2>
      <a:accent1>
        <a:srgbClr val="E8772E"/>
      </a:accent1>
      <a:accent2>
        <a:srgbClr val="3A3F44"/>
      </a:accent2>
      <a:accent3>
        <a:srgbClr val="8D887F"/>
      </a:accent3>
      <a:accent4>
        <a:srgbClr val="B9B4AA"/>
      </a:accent4>
      <a:accent5>
        <a:srgbClr val="E6E2DA"/>
      </a:accent5>
      <a:accent6>
        <a:srgbClr val="4A4D50"/>
      </a:accent6>
      <a:hlink>
        <a:srgbClr val="E8772E"/>
      </a:hlink>
      <a:folHlink>
        <a:srgbClr val="8D887F"/>
      </a:folHlink>
    </a:clrScheme>
    <a:fontScheme name="Zdanmotion Bygg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Zdanmotion – Bygg</dc:title>
  <dc:subject>PptxGenJS Presentation</dc:subject>
  <dc:creator>PptxGenJS</dc:creator>
  <cp:lastModifiedBy>PptxGenJS</cp:lastModifiedBy>
  <cp:revision>1</cp:revision>
  <dcterms:created xsi:type="dcterms:W3CDTF">2026-10-22T16:35:52Z</dcterms:created>
  <dcterms:modified xsi:type="dcterms:W3CDTF">2026-10-22T16:35:52Z</dcterms:modified>
</cp:coreProperties>
</file>