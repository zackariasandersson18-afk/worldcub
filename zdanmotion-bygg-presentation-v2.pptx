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2afcdae-a247-153f-8871-4ecd5f4ad802}">
          <p14:sldIdLst>
            <p14:sldId id="256"/>
          </p14:sldIdLst>
        </p14:section>
        <p14:section name="Agenda" id="{8c000e75-0050-ff09-b877-974710fbf479}">
          <p14:sldIdLst>
            <p14:sldId id="257"/>
          </p14:sldIdLst>
        </p14:section>
        <p14:section name="Lösningen" id="{706f246b-635f-09aa-ad59-6b88d8366073}">
          <p14:sldIdLst>
            <p14:sldId id="258"/>
            <p14:sldId id="259"/>
            <p14:sldId id="260"/>
          </p14:sldIdLst>
        </p14:section>
        <p14:section name="Pris" id="{9f7a61bc-52db-cbc9-e056-7fe37fa5ead5}">
          <p14:sldIdLst>
            <p14:sldId id="261"/>
          </p14:sldIdLst>
        </p14:section>
        <p14:section name="Nästa steg" id="{d56abd54-4a2d-3122-9b6b-6807bbb064f2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Tacka för tiden. Kort om zdanmotion: vi gör videoannonser med motion graphics för byggföretag, kvalificerar leadsen och bokar hembesöken direkt i kundens kalender. Fråga hur mycket tid de har och börja gärna med några frågor om deras företag.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agendan: hur systemet fungerar, hur vi kvalificerar och bokar in hembesök i kalendern, appen och sedan investering. Koppla målen till det kunden sa i kartläggningen (fler jobb, kunna planera, slippa jaga). Säg tydligt att ni tar ett beslut i slutet av mötet – och att ett nej är helt okej.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stegen lugnt. Betona steg 3 och 4: vi kvalificerar varje lead och bokar in hembesöket direkt i deras kalender – de slipper jaga leads och åka ut till kunder som bara vill ha ett pris.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här är kärnan: vi levererar inte bara klick eller leads. Varje lead kvalificeras på projekt, budget och tidsplan – och bokas sedan direkt in i deras kalender. De behöver inte ringa runt eller jaga någon.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appen: alla hembesök i en kalender, SMS-notis när något bokas, chatt med leads via SMS och statistik över bokade besök. Fråga: är det du som går på hembesöken? Då är det du som får notiserna.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 tjänar mest när de tjänar mest. Annonsbudgeten går rakt till Meta och syns i deras eget annonskonto – full insyn.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Sammanfatta kort vad de får, ställ sedan frågan: Vad känner du? Hur vill du gå vidare härifrån? Var tyst och låt kunden svara. Vid ja: skicka avtalet för e-signering direkt under samtalet och be om bilder och filmer i en Google Drive-mapp. Vid nej: helt okej – tacka för tiden.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228600"/>
            <a:ext cx="2560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228600"/>
            <a:ext cx="0" cy="2560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14900"/>
            <a:ext cx="2560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58868"/>
            <a:ext cx="0" cy="2560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zdanmotion.se</a:t>
            </a:r>
            <a:endParaRPr lang="en-US" sz="1000" dirty="0"/>
          </a:p>
        </p:txBody>
      </p:sp>
      <p:sp>
        <p:nvSpPr>
          <p:cNvPr id="11" name="Text 9"/>
          <p:cNvSpPr/>
          <p:nvPr>
            <p:ph idx="109" type="body" hasCustomPrompt="1"/>
          </p:nvPr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>
            <p:ph idx="110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228600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228600"/>
            <a:ext cx="0" cy="25603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14900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58868"/>
            <a:ext cx="0" cy="25603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zdanmotion.se</a:t>
            </a:r>
            <a:endParaRPr lang="en-US" sz="1000" dirty="0"/>
          </a:p>
        </p:txBody>
      </p:sp>
      <p:sp>
        <p:nvSpPr>
          <p:cNvPr id="11" name="Text 9"/>
          <p:cNvSpPr/>
          <p:nvPr>
            <p:ph idx="109" type="body" hasCustomPrompt="1"/>
          </p:nvPr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>
            <p:ph idx="110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228600"/>
            <a:ext cx="2560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228600"/>
            <a:ext cx="0" cy="2560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14900"/>
            <a:ext cx="2560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58868"/>
            <a:ext cx="0" cy="2560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228600"/>
            <a:ext cx="25603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228600"/>
            <a:ext cx="0" cy="25603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14900"/>
            <a:ext cx="25603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58868"/>
            <a:ext cx="0" cy="25603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4.xml"/><Relationship Id="rId1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ZDANMOTION</a:t>
            </a:r>
            <a:endParaRPr lang="en-US" sz="1200" dirty="0"/>
          </a:p>
        </p:txBody>
      </p:sp>
      <p:sp>
        <p:nvSpPr>
          <p:cNvPr id="3" name="Cover title"/>
          <p:cNvSpPr txBox="1"/>
          <p:nvPr/>
        </p:nvSpPr>
        <p:spPr>
          <a:xfrm>
            <a:off x="548640" y="1097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Fler hembesök.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Fler vunna jobb.</a:t>
            </a:r>
            <a:endParaRPr lang="en-US" sz="4200" dirty="0"/>
          </a:p>
        </p:txBody>
      </p:sp>
      <p:sp>
        <p:nvSpPr>
          <p:cNvPr id="4" name="Cover subtitle"/>
          <p:cNvSpPr txBox="1"/>
          <p:nvPr/>
        </p:nvSpPr>
        <p:spPr>
          <a:xfrm>
            <a:off x="548640" y="2514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Videoannonser för byggföretag. Vi kvalificerar leads och bokar hembesöken direkt i din kalender.</a:t>
            </a:r>
            <a:endParaRPr lang="en-US" sz="1500" dirty="0"/>
          </a:p>
        </p:txBody>
      </p:sp>
      <p:sp>
        <p:nvSpPr>
          <p:cNvPr id="5" name="Chip Annonser"/>
          <p:cNvSpPr/>
          <p:nvPr/>
        </p:nvSpPr>
        <p:spPr>
          <a:xfrm>
            <a:off x="548640" y="3520440"/>
            <a:ext cx="1078992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611880"/>
            <a:ext cx="164592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86968" y="352044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Annonser</a:t>
            </a:r>
            <a:endParaRPr lang="en-US" sz="1100" dirty="0"/>
          </a:p>
        </p:txBody>
      </p:sp>
      <p:sp>
        <p:nvSpPr>
          <p:cNvPr id="8" name="Chip För byggföretag"/>
          <p:cNvSpPr/>
          <p:nvPr/>
        </p:nvSpPr>
        <p:spPr>
          <a:xfrm>
            <a:off x="1764792" y="3520440"/>
            <a:ext cx="162306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" y="361188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03120" y="3520440"/>
            <a:ext cx="12390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För byggföretag</a:t>
            </a:r>
            <a:endParaRPr lang="en-US" sz="1100" dirty="0"/>
          </a:p>
        </p:txBody>
      </p:sp>
      <p:sp>
        <p:nvSpPr>
          <p:cNvPr id="11" name="Chip Bokade hembesök"/>
          <p:cNvSpPr/>
          <p:nvPr/>
        </p:nvSpPr>
        <p:spPr>
          <a:xfrm>
            <a:off x="3525012" y="3520440"/>
            <a:ext cx="162306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884" y="361188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63340" y="3520440"/>
            <a:ext cx="12390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Bokade hembesök</a:t>
            </a:r>
            <a:endParaRPr lang="en-US" sz="1100" dirty="0"/>
          </a:p>
        </p:txBody>
      </p:sp>
      <p:sp>
        <p:nvSpPr>
          <p:cNvPr id="14" name="Timeline"/>
          <p:cNvSpPr/>
          <p:nvPr/>
        </p:nvSpPr>
        <p:spPr>
          <a:xfrm>
            <a:off x="548640" y="4251960"/>
            <a:ext cx="4846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5" name="Timeline progress"/>
          <p:cNvSpPr/>
          <p:nvPr/>
        </p:nvSpPr>
        <p:spPr>
          <a:xfrm>
            <a:off x="548640" y="4251960"/>
            <a:ext cx="31089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6" name="Keyframe 1"/>
          <p:cNvSpPr/>
          <p:nvPr/>
        </p:nvSpPr>
        <p:spPr>
          <a:xfrm>
            <a:off x="548640" y="4178808"/>
            <a:ext cx="146304" cy="146304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17" name="Keyframe 2"/>
          <p:cNvSpPr/>
          <p:nvPr/>
        </p:nvSpPr>
        <p:spPr>
          <a:xfrm>
            <a:off x="1481328" y="4178808"/>
            <a:ext cx="146304" cy="146304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18" name="Keyframe 3"/>
          <p:cNvSpPr/>
          <p:nvPr/>
        </p:nvSpPr>
        <p:spPr>
          <a:xfrm>
            <a:off x="2578608" y="4178808"/>
            <a:ext cx="146304" cy="146304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19" name="Keyframe 4"/>
          <p:cNvSpPr/>
          <p:nvPr/>
        </p:nvSpPr>
        <p:spPr>
          <a:xfrm>
            <a:off x="3584448" y="4178808"/>
            <a:ext cx="146304" cy="146304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20" name="Keyframe 5"/>
          <p:cNvSpPr/>
          <p:nvPr/>
        </p:nvSpPr>
        <p:spPr>
          <a:xfrm>
            <a:off x="4636008" y="4178808"/>
            <a:ext cx="146304" cy="146304"/>
          </a:xfrm>
          <a:prstGeom prst="diamond">
            <a:avLst/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4864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Annons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448056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Hembesök</a:t>
            </a:r>
            <a:endParaRPr lang="en-US" sz="900" dirty="0"/>
          </a:p>
        </p:txBody>
      </p:sp>
      <p:sp>
        <p:nvSpPr>
          <p:cNvPr id="23" name="Glow"/>
          <p:cNvSpPr/>
          <p:nvPr/>
        </p:nvSpPr>
        <p:spPr>
          <a:xfrm>
            <a:off x="5806440" y="685800"/>
            <a:ext cx="3017520" cy="30175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4" name="Video ad mocku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11480"/>
            <a:ext cx="2121408" cy="43159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body" hasCustomPrompt="1"/>
          </p:nvPr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DAGENS AGENDA</a:t>
            </a:r>
            <a:endParaRPr lang="en-US" sz="1100" dirty="0"/>
          </a:p>
        </p:txBody>
      </p:sp>
      <p:sp>
        <p:nvSpPr>
          <p:cNvPr id="3" name="Text 9"/>
          <p:cNvSpPr/>
          <p:nvPr>
            <p:ph idx="110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Det här går vi igenom idag</a:t>
            </a:r>
            <a:endParaRPr lang="en-US" sz="3000" dirty="0"/>
          </a:p>
        </p:txBody>
      </p:sp>
      <p:sp>
        <p:nvSpPr>
          <p:cNvPr id="4" name="REC dot"/>
          <p:cNvSpPr/>
          <p:nvPr/>
        </p:nvSpPr>
        <p:spPr>
          <a:xfrm>
            <a:off x="7360920" y="42976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imecode"/>
          <p:cNvSpPr txBox="1"/>
          <p:nvPr/>
        </p:nvSpPr>
        <p:spPr>
          <a:xfrm>
            <a:off x="7543800" y="365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REC  00:00:02:00</a:t>
            </a:r>
            <a:endParaRPr lang="en-US" sz="900" dirty="0"/>
          </a:p>
        </p:txBody>
      </p:sp>
      <p:sp>
        <p:nvSpPr>
          <p:cNvPr id="6" name="Agenda 1"/>
          <p:cNvSpPr/>
          <p:nvPr/>
        </p:nvSpPr>
        <p:spPr>
          <a:xfrm>
            <a:off x="548640" y="1600200"/>
            <a:ext cx="4846320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Agenda icon 1 circle"/>
          <p:cNvSpPr/>
          <p:nvPr/>
        </p:nvSpPr>
        <p:spPr>
          <a:xfrm>
            <a:off x="1143000" y="1700784"/>
            <a:ext cx="393192" cy="39319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9" name="Agenda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298" y="1799082"/>
            <a:ext cx="196596" cy="1965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1600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Så fungerar systemet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Videoannonser via Meta till husägare i ert område.</a:t>
            </a:r>
            <a:endParaRPr lang="en-US" sz="1500" dirty="0"/>
          </a:p>
        </p:txBody>
      </p:sp>
      <p:sp>
        <p:nvSpPr>
          <p:cNvPr id="11" name="Agenda 2"/>
          <p:cNvSpPr/>
          <p:nvPr/>
        </p:nvSpPr>
        <p:spPr>
          <a:xfrm>
            <a:off x="548640" y="2331720"/>
            <a:ext cx="4846320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13232" y="233172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Agenda icon 2 circle"/>
          <p:cNvSpPr/>
          <p:nvPr/>
        </p:nvSpPr>
        <p:spPr>
          <a:xfrm>
            <a:off x="1143000" y="2432304"/>
            <a:ext cx="393192" cy="39319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Agenda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298" y="2530602"/>
            <a:ext cx="196596" cy="1965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91640" y="23317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Kvalificering och bokning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Hur vi bokar hembesök direkt i din kalender.</a:t>
            </a:r>
            <a:endParaRPr lang="en-US" sz="1500" dirty="0"/>
          </a:p>
        </p:txBody>
      </p:sp>
      <p:sp>
        <p:nvSpPr>
          <p:cNvPr id="16" name="Agenda 3"/>
          <p:cNvSpPr/>
          <p:nvPr/>
        </p:nvSpPr>
        <p:spPr>
          <a:xfrm>
            <a:off x="548640" y="3063240"/>
            <a:ext cx="4846320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13232" y="306324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Agenda icon 3 circle"/>
          <p:cNvSpPr/>
          <p:nvPr/>
        </p:nvSpPr>
        <p:spPr>
          <a:xfrm>
            <a:off x="1143000" y="3163824"/>
            <a:ext cx="393192" cy="39319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Agenda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298" y="3262122"/>
            <a:ext cx="196596" cy="1965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91640" y="30632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Appen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Hembesök, notiser och leads på ett ställe.</a:t>
            </a:r>
            <a:endParaRPr lang="en-US" sz="1500" dirty="0"/>
          </a:p>
        </p:txBody>
      </p:sp>
      <p:sp>
        <p:nvSpPr>
          <p:cNvPr id="21" name="Agenda 4"/>
          <p:cNvSpPr/>
          <p:nvPr/>
        </p:nvSpPr>
        <p:spPr>
          <a:xfrm>
            <a:off x="548640" y="3794760"/>
            <a:ext cx="4846320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713232" y="37947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Agenda icon 4 circle"/>
          <p:cNvSpPr/>
          <p:nvPr/>
        </p:nvSpPr>
        <p:spPr>
          <a:xfrm>
            <a:off x="1143000" y="3895344"/>
            <a:ext cx="393192" cy="39319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Agenda ic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298" y="3993642"/>
            <a:ext cx="196596" cy="1965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91640" y="37947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Investering och beslut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Målet: ett tydligt ja eller nej – ska vi jobba ihop?</a:t>
            </a:r>
            <a:endParaRPr lang="en-US" sz="1500" dirty="0"/>
          </a:p>
        </p:txBody>
      </p:sp>
      <p:sp>
        <p:nvSpPr>
          <p:cNvPr id="26" name="Goal card"/>
          <p:cNvSpPr/>
          <p:nvPr/>
        </p:nvSpPr>
        <p:spPr>
          <a:xfrm>
            <a:off x="5760720" y="1600200"/>
            <a:ext cx="2834640" cy="2788920"/>
          </a:xfrm>
          <a:prstGeom prst="roundRect">
            <a:avLst>
              <a:gd name="adj" fmla="val 3934"/>
            </a:avLst>
          </a:prstGeom>
          <a:solidFill>
            <a:schemeClr val="tx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989320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MÅLET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258568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2512" y="2194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Fler hembesök varje månad</a:t>
            </a:r>
            <a:endParaRPr lang="en-US" sz="14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2807208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382512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Trygghet att planera framåt</a:t>
            </a:r>
            <a:endParaRPr lang="en-US" sz="14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3355848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382512" y="3291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Slippa jaga jobb och leads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5989320" y="3840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Känns det inte rätt är det helt okej – känns det rätt kör vi igång direkt.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body" hasCustomPrompt="1"/>
          </p:nvPr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SÅ FUNGERAR DET</a:t>
            </a:r>
            <a:endParaRPr lang="en-US" sz="1100" dirty="0"/>
          </a:p>
        </p:txBody>
      </p:sp>
      <p:sp>
        <p:nvSpPr>
          <p:cNvPr id="3" name="Text 9"/>
          <p:cNvSpPr/>
          <p:nvPr>
            <p:ph idx="110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Från videoannons till bokat hembesök</a:t>
            </a:r>
            <a:endParaRPr lang="en-US" sz="3000" dirty="0"/>
          </a:p>
        </p:txBody>
      </p:sp>
      <p:sp>
        <p:nvSpPr>
          <p:cNvPr id="4" name="REC dot"/>
          <p:cNvSpPr/>
          <p:nvPr/>
        </p:nvSpPr>
        <p:spPr>
          <a:xfrm>
            <a:off x="7360920" y="42976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imecode"/>
          <p:cNvSpPr txBox="1"/>
          <p:nvPr/>
        </p:nvSpPr>
        <p:spPr>
          <a:xfrm>
            <a:off x="7543800" y="365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REC  00:00:03:00</a:t>
            </a:r>
            <a:endParaRPr lang="en-US" sz="900" dirty="0"/>
          </a:p>
        </p:txBody>
      </p:sp>
      <p:sp>
        <p:nvSpPr>
          <p:cNvPr id="6" name="Editor panel"/>
          <p:cNvSpPr/>
          <p:nvPr/>
        </p:nvSpPr>
        <p:spPr>
          <a:xfrm>
            <a:off x="548640" y="1554480"/>
            <a:ext cx="804672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00784"/>
            <a:ext cx="0" cy="1097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700784"/>
            <a:ext cx="0" cy="5486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700784"/>
            <a:ext cx="0" cy="1097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700784"/>
            <a:ext cx="0" cy="5486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700784"/>
            <a:ext cx="0" cy="1097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700784"/>
            <a:ext cx="0" cy="5486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700784"/>
            <a:ext cx="0" cy="1097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1700784"/>
            <a:ext cx="0" cy="5486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1700784"/>
            <a:ext cx="0" cy="1097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700784"/>
            <a:ext cx="0" cy="5486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1700784"/>
            <a:ext cx="0" cy="1097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700784"/>
            <a:ext cx="0" cy="5486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700784"/>
            <a:ext cx="0" cy="1097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700784"/>
            <a:ext cx="0" cy="5486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700784"/>
            <a:ext cx="0" cy="1097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1700784"/>
            <a:ext cx="0" cy="5486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1700784"/>
            <a:ext cx="0" cy="1097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4" name="Clip 1"/>
          <p:cNvSpPr/>
          <p:nvPr/>
        </p:nvSpPr>
        <p:spPr>
          <a:xfrm>
            <a:off x="777240" y="19659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30552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234440" y="19659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01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Videoannons</a:t>
            </a:r>
            <a:endParaRPr lang="en-US" sz="900" dirty="0"/>
          </a:p>
        </p:txBody>
      </p:sp>
      <p:sp>
        <p:nvSpPr>
          <p:cNvPr id="27" name="Keyframe 1"/>
          <p:cNvSpPr/>
          <p:nvPr/>
        </p:nvSpPr>
        <p:spPr>
          <a:xfrm>
            <a:off x="1618488" y="2670048"/>
            <a:ext cx="146304" cy="146304"/>
          </a:xfrm>
          <a:prstGeom prst="diamond">
            <a:avLst/>
          </a:prstGeom>
          <a:solidFill>
            <a:schemeClr val="accent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7240" y="29718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Videoannonser av era bilder och filmer från färdiga jobb – eller med AI.</a:t>
            </a:r>
            <a:endParaRPr lang="en-US" sz="1400" dirty="0"/>
          </a:p>
        </p:txBody>
      </p:sp>
      <p:sp>
        <p:nvSpPr>
          <p:cNvPr id="29" name="Clip 2"/>
          <p:cNvSpPr/>
          <p:nvPr/>
        </p:nvSpPr>
        <p:spPr>
          <a:xfrm>
            <a:off x="2697480" y="19659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130552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3154680" y="19659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02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Rätt målgrupp</a:t>
            </a:r>
            <a:endParaRPr lang="en-US" sz="900" dirty="0"/>
          </a:p>
        </p:txBody>
      </p:sp>
      <p:sp>
        <p:nvSpPr>
          <p:cNvPr id="32" name="Keyframe 2"/>
          <p:cNvSpPr/>
          <p:nvPr/>
        </p:nvSpPr>
        <p:spPr>
          <a:xfrm>
            <a:off x="3538728" y="2670048"/>
            <a:ext cx="146304" cy="146304"/>
          </a:xfrm>
          <a:prstGeom prst="diamond">
            <a:avLst/>
          </a:prstGeom>
          <a:solidFill>
            <a:schemeClr val="accent6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97480" y="29718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Betald annonsering via Meta till husägare i ert område, 300 kr/dag.</a:t>
            </a:r>
            <a:endParaRPr lang="en-US" sz="1400" dirty="0"/>
          </a:p>
        </p:txBody>
      </p:sp>
      <p:sp>
        <p:nvSpPr>
          <p:cNvPr id="34" name="Clip 3"/>
          <p:cNvSpPr/>
          <p:nvPr/>
        </p:nvSpPr>
        <p:spPr>
          <a:xfrm>
            <a:off x="4617720" y="19659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30552"/>
            <a:ext cx="237744" cy="23774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074920" y="19659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03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 kvalificerar</a:t>
            </a:r>
            <a:endParaRPr lang="en-US" sz="900" dirty="0"/>
          </a:p>
        </p:txBody>
      </p:sp>
      <p:sp>
        <p:nvSpPr>
          <p:cNvPr id="37" name="Keyframe 3"/>
          <p:cNvSpPr/>
          <p:nvPr/>
        </p:nvSpPr>
        <p:spPr>
          <a:xfrm>
            <a:off x="5458968" y="2670048"/>
            <a:ext cx="146304" cy="146304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4617720" y="29718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Formulär och SMS: projekt, budget och tidsplan. Prisjägarna sållas bort.</a:t>
            </a:r>
            <a:endParaRPr lang="en-US" sz="1400" dirty="0"/>
          </a:p>
        </p:txBody>
      </p:sp>
      <p:sp>
        <p:nvSpPr>
          <p:cNvPr id="39" name="Clip 4"/>
          <p:cNvSpPr/>
          <p:nvPr/>
        </p:nvSpPr>
        <p:spPr>
          <a:xfrm>
            <a:off x="6537960" y="19659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30552"/>
            <a:ext cx="237744" cy="23774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6995160" y="19659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04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 din kalender</a:t>
            </a:r>
            <a:endParaRPr lang="en-US" sz="900" dirty="0"/>
          </a:p>
        </p:txBody>
      </p:sp>
      <p:sp>
        <p:nvSpPr>
          <p:cNvPr id="42" name="Keyframe 4"/>
          <p:cNvSpPr/>
          <p:nvPr/>
        </p:nvSpPr>
        <p:spPr>
          <a:xfrm>
            <a:off x="7379208" y="2670048"/>
            <a:ext cx="146304" cy="146304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6537960" y="29718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Kunden bokas direkt in i er kalender. Ni åker ut och ger offert.</a:t>
            </a:r>
            <a:endParaRPr lang="en-US" sz="1400" dirty="0"/>
          </a:p>
        </p:txBody>
      </p:sp>
      <p:sp>
        <p:nvSpPr>
          <p:cNvPr id="44" name="Keyframe track"/>
          <p:cNvSpPr/>
          <p:nvPr/>
        </p:nvSpPr>
        <p:spPr>
          <a:xfrm>
            <a:off x="777240" y="2743200"/>
            <a:ext cx="74980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body" hasCustomPrompt="1"/>
          </p:nvPr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KVALIFICERING &amp; BOKNING</a:t>
            </a:r>
            <a:endParaRPr lang="en-US" sz="1100" dirty="0"/>
          </a:p>
        </p:txBody>
      </p:sp>
      <p:sp>
        <p:nvSpPr>
          <p:cNvPr id="3" name="Text 9"/>
          <p:cNvSpPr/>
          <p:nvPr>
            <p:ph idx="110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Kvalificerade leads – direkt i din kalender</a:t>
            </a:r>
            <a:endParaRPr lang="en-US" sz="3000" dirty="0"/>
          </a:p>
        </p:txBody>
      </p:sp>
      <p:sp>
        <p:nvSpPr>
          <p:cNvPr id="4" name="REC dot"/>
          <p:cNvSpPr/>
          <p:nvPr/>
        </p:nvSpPr>
        <p:spPr>
          <a:xfrm>
            <a:off x="7360920" y="42976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imecode"/>
          <p:cNvSpPr txBox="1"/>
          <p:nvPr/>
        </p:nvSpPr>
        <p:spPr>
          <a:xfrm>
            <a:off x="7543800" y="365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REC  00:00:04:00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Vårt team kvalificerar via formulär och SMS och bokar in hembesöket åt dig. Kunden får uppföljningsmejl om ert företag så att de känner sig trygga med att välja er.</a:t>
            </a:r>
            <a:endParaRPr lang="en-US" sz="1400" dirty="0"/>
          </a:p>
        </p:txBody>
      </p:sp>
      <p:sp>
        <p:nvSpPr>
          <p:cNvPr id="7" name="Lead card"/>
          <p:cNvSpPr/>
          <p:nvPr/>
        </p:nvSpPr>
        <p:spPr>
          <a:xfrm>
            <a:off x="548640" y="1965960"/>
            <a:ext cx="35661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Ny förfrågan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Anna L. · Täby</a:t>
            </a:r>
            <a:endParaRPr lang="en-US" sz="1400" dirty="0"/>
          </a:p>
        </p:txBody>
      </p:sp>
      <p:sp>
        <p:nvSpPr>
          <p:cNvPr id="9" name="Qualified badge"/>
          <p:cNvSpPr/>
          <p:nvPr/>
        </p:nvSpPr>
        <p:spPr>
          <a:xfrm>
            <a:off x="2788920" y="2157984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88920" y="2157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KVALIFICERAD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2651760"/>
            <a:ext cx="31089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70632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97280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Projekt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2724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Altan 30 kvm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063240"/>
            <a:ext cx="31089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82112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97280" y="31363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Budget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057400" y="3136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150–200 000 kr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77240" y="3474720"/>
            <a:ext cx="31089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93592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7280" y="35478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Start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05740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Inom 2 månader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77240" y="3886200"/>
            <a:ext cx="31089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05072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97280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Husägare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2057400" y="3959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Ja</a:t>
            </a:r>
            <a:endParaRPr lang="en-US" sz="1300" dirty="0"/>
          </a:p>
        </p:txBody>
      </p:sp>
      <p:sp>
        <p:nvSpPr>
          <p:cNvPr id="27" name="Flow arrow circle"/>
          <p:cNvSpPr/>
          <p:nvPr/>
        </p:nvSpPr>
        <p:spPr>
          <a:xfrm>
            <a:off x="4325112" y="299008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8" name="Flow arrow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412" y="3104388"/>
            <a:ext cx="228600" cy="228600"/>
          </a:xfrm>
          <a:prstGeom prst="rect">
            <a:avLst/>
          </a:prstGeom>
        </p:spPr>
      </p:pic>
      <p:sp>
        <p:nvSpPr>
          <p:cNvPr id="29" name="Calendar"/>
          <p:cNvSpPr/>
          <p:nvPr/>
        </p:nvSpPr>
        <p:spPr>
          <a:xfrm>
            <a:off x="4983480" y="1965960"/>
            <a:ext cx="361188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213055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321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Din kalender · 3 hembesök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5212080" y="2487168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Mån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843016" y="2487168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Tis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843016" y="2743200"/>
            <a:ext cx="0" cy="15544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6473952" y="2487168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Ons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473952" y="2743200"/>
            <a:ext cx="0" cy="15544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7104888" y="2487168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Tor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7104888" y="2743200"/>
            <a:ext cx="0" cy="15544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735824" y="2487168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Fre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7735824" y="2743200"/>
            <a:ext cx="0" cy="15544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212080" y="2743200"/>
            <a:ext cx="31546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5212080" y="3264408"/>
            <a:ext cx="31546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5212080" y="3785616"/>
            <a:ext cx="31546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5212080" y="4297680"/>
            <a:ext cx="31546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5" name="Event Anna L."/>
          <p:cNvSpPr/>
          <p:nvPr/>
        </p:nvSpPr>
        <p:spPr>
          <a:xfrm>
            <a:off x="5248656" y="2779776"/>
            <a:ext cx="557784" cy="448056"/>
          </a:xfrm>
          <a:prstGeom prst="roundRect">
            <a:avLst>
              <a:gd name="adj" fmla="val 10204"/>
            </a:avLst>
          </a:prstGeom>
          <a:solidFill>
            <a:schemeClr val="accent1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5248656" y="2779776"/>
            <a:ext cx="557784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Hembesök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Anna L.</a:t>
            </a:r>
            <a:endParaRPr lang="en-US" sz="750" dirty="0"/>
          </a:p>
        </p:txBody>
      </p:sp>
      <p:sp>
        <p:nvSpPr>
          <p:cNvPr id="47" name="Event jobb"/>
          <p:cNvSpPr/>
          <p:nvPr/>
        </p:nvSpPr>
        <p:spPr>
          <a:xfrm>
            <a:off x="5879592" y="3822192"/>
            <a:ext cx="557784" cy="448056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5879592" y="3822192"/>
            <a:ext cx="557784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3"/>
                </a:solidFill>
              </a:rPr>
              <a:t>Pågående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chemeClr val="accent3"/>
                </a:solidFill>
              </a:rPr>
              <a:t>jobb</a:t>
            </a:r>
            <a:endParaRPr lang="en-US" sz="750" dirty="0"/>
          </a:p>
        </p:txBody>
      </p:sp>
      <p:sp>
        <p:nvSpPr>
          <p:cNvPr id="49" name="Event Erik S."/>
          <p:cNvSpPr/>
          <p:nvPr/>
        </p:nvSpPr>
        <p:spPr>
          <a:xfrm>
            <a:off x="6510528" y="3300984"/>
            <a:ext cx="557784" cy="448056"/>
          </a:xfrm>
          <a:prstGeom prst="roundRect">
            <a:avLst>
              <a:gd name="adj" fmla="val 10204"/>
            </a:avLst>
          </a:prstGeom>
          <a:solidFill>
            <a:schemeClr val="accent1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6510528" y="3300984"/>
            <a:ext cx="557784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Hembesök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Erik S.</a:t>
            </a:r>
            <a:endParaRPr lang="en-US" sz="750" dirty="0"/>
          </a:p>
        </p:txBody>
      </p:sp>
      <p:sp>
        <p:nvSpPr>
          <p:cNvPr id="51" name="Event jobb"/>
          <p:cNvSpPr/>
          <p:nvPr/>
        </p:nvSpPr>
        <p:spPr>
          <a:xfrm>
            <a:off x="7141464" y="2779776"/>
            <a:ext cx="557784" cy="448056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7141464" y="2779776"/>
            <a:ext cx="557784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3"/>
                </a:solidFill>
              </a:rPr>
              <a:t>Pågående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chemeClr val="accent3"/>
                </a:solidFill>
              </a:rPr>
              <a:t>jobb</a:t>
            </a:r>
            <a:endParaRPr lang="en-US" sz="750" dirty="0"/>
          </a:p>
        </p:txBody>
      </p:sp>
      <p:sp>
        <p:nvSpPr>
          <p:cNvPr id="53" name="Event Maria K."/>
          <p:cNvSpPr/>
          <p:nvPr/>
        </p:nvSpPr>
        <p:spPr>
          <a:xfrm>
            <a:off x="7772400" y="3822192"/>
            <a:ext cx="557784" cy="448056"/>
          </a:xfrm>
          <a:prstGeom prst="roundRect">
            <a:avLst>
              <a:gd name="adj" fmla="val 10204"/>
            </a:avLst>
          </a:prstGeom>
          <a:solidFill>
            <a:schemeClr val="accent1"/>
          </a:solidFill>
          <a:ln/>
        </p:spPr>
      </p:sp>
      <p:sp>
        <p:nvSpPr>
          <p:cNvPr id="54" name="Text 46"/>
          <p:cNvSpPr txBox="1"/>
          <p:nvPr/>
        </p:nvSpPr>
        <p:spPr>
          <a:xfrm>
            <a:off x="7772400" y="3822192"/>
            <a:ext cx="557784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Hembesök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Maria K.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body" hasCustomPrompt="1"/>
          </p:nvPr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APPEN</a:t>
            </a:r>
            <a:endParaRPr lang="en-US" sz="1100" dirty="0"/>
          </a:p>
        </p:txBody>
      </p:sp>
      <p:sp>
        <p:nvSpPr>
          <p:cNvPr id="3" name="Text 9"/>
          <p:cNvSpPr/>
          <p:nvPr>
            <p:ph idx="110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Full överblick – i mobilen och på datorn</a:t>
            </a:r>
            <a:endParaRPr lang="en-US" sz="3000" dirty="0"/>
          </a:p>
        </p:txBody>
      </p:sp>
      <p:sp>
        <p:nvSpPr>
          <p:cNvPr id="4" name="REC dot"/>
          <p:cNvSpPr/>
          <p:nvPr/>
        </p:nvSpPr>
        <p:spPr>
          <a:xfrm>
            <a:off x="7360920" y="42976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imecode"/>
          <p:cNvSpPr txBox="1"/>
          <p:nvPr/>
        </p:nvSpPr>
        <p:spPr>
          <a:xfrm>
            <a:off x="7543800" y="365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REC  00:00:05:00</a:t>
            </a:r>
            <a:endParaRPr lang="en-US" sz="900" dirty="0"/>
          </a:p>
        </p:txBody>
      </p:sp>
      <p:sp>
        <p:nvSpPr>
          <p:cNvPr id="6" name="Glow"/>
          <p:cNvSpPr/>
          <p:nvPr/>
        </p:nvSpPr>
        <p:spPr>
          <a:xfrm>
            <a:off x="5669280" y="1417320"/>
            <a:ext cx="3017520" cy="30175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7" name="App mock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371600"/>
            <a:ext cx="1645920" cy="3346704"/>
          </a:xfrm>
          <a:prstGeom prst="rect">
            <a:avLst/>
          </a:prstGeom>
        </p:spPr>
      </p:pic>
      <p:sp>
        <p:nvSpPr>
          <p:cNvPr id="8" name="Feature 1 circle"/>
          <p:cNvSpPr/>
          <p:nvPr/>
        </p:nvSpPr>
        <p:spPr>
          <a:xfrm>
            <a:off x="548640" y="160934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Featur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172364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5727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Alla hembesök samlade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Ett enkelt kalendersystem med adress och info om jobbet.</a:t>
            </a:r>
            <a:endParaRPr lang="en-US" sz="1500" dirty="0"/>
          </a:p>
        </p:txBody>
      </p:sp>
      <p:sp>
        <p:nvSpPr>
          <p:cNvPr id="11" name="Feature 2 circle"/>
          <p:cNvSpPr/>
          <p:nvPr/>
        </p:nvSpPr>
        <p:spPr>
          <a:xfrm>
            <a:off x="548640" y="234086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Featur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45516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3042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SMS-notis vid varje bokning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Du får besked direkt när ett hembesök bokas in.</a:t>
            </a:r>
            <a:endParaRPr lang="en-US" sz="1500" dirty="0"/>
          </a:p>
        </p:txBody>
      </p:sp>
      <p:sp>
        <p:nvSpPr>
          <p:cNvPr id="14" name="Feature 3 circle"/>
          <p:cNvSpPr/>
          <p:nvPr/>
        </p:nvSpPr>
        <p:spPr>
          <a:xfrm>
            <a:off x="548640" y="307238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318668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30358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Chatta med leads via SMS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All kontakt med kunderna på ett ställe.</a:t>
            </a:r>
            <a:endParaRPr lang="en-US" sz="1500" dirty="0"/>
          </a:p>
        </p:txBody>
      </p:sp>
      <p:sp>
        <p:nvSpPr>
          <p:cNvPr id="17" name="Feature 4 circle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Feature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918204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872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Överblick och statistik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 hur många hembesök som bokas varje månad.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body" hasCustomPrompt="1"/>
          </p:nvPr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PRISMODELL</a:t>
            </a:r>
            <a:endParaRPr lang="en-US" sz="1100" dirty="0"/>
          </a:p>
        </p:txBody>
      </p:sp>
      <p:sp>
        <p:nvSpPr>
          <p:cNvPr id="3" name="Text 9"/>
          <p:cNvSpPr/>
          <p:nvPr>
            <p:ph idx="110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Ni betalar för resultat</a:t>
            </a:r>
            <a:endParaRPr lang="en-US" sz="3000" dirty="0"/>
          </a:p>
        </p:txBody>
      </p:sp>
      <p:sp>
        <p:nvSpPr>
          <p:cNvPr id="4" name="REC dot"/>
          <p:cNvSpPr/>
          <p:nvPr/>
        </p:nvSpPr>
        <p:spPr>
          <a:xfrm>
            <a:off x="7360920" y="42976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imecode"/>
          <p:cNvSpPr txBox="1"/>
          <p:nvPr/>
        </p:nvSpPr>
        <p:spPr>
          <a:xfrm>
            <a:off x="7543800" y="365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REC  00:00:06:00</a:t>
            </a:r>
            <a:endParaRPr lang="en-US" sz="900" dirty="0"/>
          </a:p>
        </p:txBody>
      </p:sp>
      <p:sp>
        <p:nvSpPr>
          <p:cNvPr id="6" name="Price 500 kr"/>
          <p:cNvSpPr/>
          <p:nvPr/>
        </p:nvSpPr>
        <p:spPr>
          <a:xfrm>
            <a:off x="548640" y="1600200"/>
            <a:ext cx="2560320" cy="278892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Price icon 1 circle"/>
          <p:cNvSpPr/>
          <p:nvPr/>
        </p:nvSpPr>
        <p:spPr>
          <a:xfrm>
            <a:off x="804672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Price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" y="19545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500 kr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 bokat hembesök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474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För varje kvalificerat hembesök vi bokar in i er kalender.</a:t>
            </a:r>
            <a:endParaRPr lang="en-US" sz="1400" dirty="0"/>
          </a:p>
        </p:txBody>
      </p:sp>
      <p:sp>
        <p:nvSpPr>
          <p:cNvPr id="12" name="Price 5 %"/>
          <p:cNvSpPr/>
          <p:nvPr/>
        </p:nvSpPr>
        <p:spPr>
          <a:xfrm>
            <a:off x="3291840" y="1600200"/>
            <a:ext cx="2560320" cy="278892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Price icon 2 circle"/>
          <p:cNvSpPr/>
          <p:nvPr/>
        </p:nvSpPr>
        <p:spPr>
          <a:xfrm>
            <a:off x="3547872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Price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02" y="195453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47872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5 %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3547872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av vinsten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47872" y="3474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På de jobb ni vinner från våra hembesök.</a:t>
            </a:r>
            <a:endParaRPr lang="en-US" sz="1400" dirty="0"/>
          </a:p>
        </p:txBody>
      </p:sp>
      <p:sp>
        <p:nvSpPr>
          <p:cNvPr id="18" name="Price 300 kr"/>
          <p:cNvSpPr/>
          <p:nvPr/>
        </p:nvSpPr>
        <p:spPr>
          <a:xfrm>
            <a:off x="6035040" y="1600200"/>
            <a:ext cx="2560320" cy="278892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Price icon 3 circle"/>
          <p:cNvSpPr/>
          <p:nvPr/>
        </p:nvSpPr>
        <p:spPr>
          <a:xfrm>
            <a:off x="6291072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rice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02" y="195453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91072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300 kr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6291072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 dag i annonser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291072" y="3474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Går direkt till Meta och syns i ert eget annonskonto.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 dot"/>
          <p:cNvSpPr/>
          <p:nvPr/>
        </p:nvSpPr>
        <p:spPr>
          <a:xfrm>
            <a:off x="7360920" y="42976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imecode"/>
          <p:cNvSpPr txBox="1"/>
          <p:nvPr/>
        </p:nvSpPr>
        <p:spPr>
          <a:xfrm>
            <a:off x="7543800" y="365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REC  00:00:07:00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NÄSTA STEG</a:t>
            </a:r>
            <a:endParaRPr lang="en-US" sz="1100" dirty="0"/>
          </a:p>
        </p:txBody>
      </p:sp>
      <p:sp>
        <p:nvSpPr>
          <p:cNvPr id="5" name="Closing title"/>
          <p:cNvSpPr txBox="1"/>
          <p:nvPr/>
        </p:nvSpPr>
        <p:spPr>
          <a:xfrm>
            <a:off x="548640" y="8229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Ska vi fylla din </a:t>
            </a:r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kalender?</a:t>
            </a:r>
            <a:endParaRPr lang="en-US" sz="4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408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2286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Videoannonser som visar ert hantverk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52344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96112" y="26974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Vi kvalificerar varje lead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6382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" y="3108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Hembesöken bokas direkt i din kalender</a:t>
            </a:r>
            <a:endParaRPr lang="en-US" sz="1500" dirty="0"/>
          </a:p>
        </p:txBody>
      </p:sp>
      <p:sp>
        <p:nvSpPr>
          <p:cNvPr id="12" name="CTA button"/>
          <p:cNvSpPr/>
          <p:nvPr/>
        </p:nvSpPr>
        <p:spPr>
          <a:xfrm>
            <a:off x="548640" y="3657600"/>
            <a:ext cx="2926080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48640" y="3657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 – vi kör igång idag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Signera digitalt och skicka bilder och filmer – sedan sätter vi igång.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zdanmotion.se</a:t>
            </a:r>
            <a:endParaRPr lang="en-US" sz="1000" dirty="0"/>
          </a:p>
        </p:txBody>
      </p:sp>
      <p:sp>
        <p:nvSpPr>
          <p:cNvPr id="16" name="Month calendar"/>
          <p:cNvSpPr/>
          <p:nvPr/>
        </p:nvSpPr>
        <p:spPr>
          <a:xfrm>
            <a:off x="5577840" y="868680"/>
            <a:ext cx="3017520" cy="36118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580644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Din kalender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80644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12 hembesök bokade denna månad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806440" y="16459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M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318504" y="16459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T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6830568" y="16459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7342632" y="16459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T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7854696" y="16459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F</a:t>
            </a:r>
            <a:endParaRPr lang="en-US" sz="900" dirty="0"/>
          </a:p>
        </p:txBody>
      </p:sp>
      <p:sp>
        <p:nvSpPr>
          <p:cNvPr id="24" name="Day 1"/>
          <p:cNvSpPr/>
          <p:nvPr/>
        </p:nvSpPr>
        <p:spPr>
          <a:xfrm>
            <a:off x="5833872" y="1874520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879592" y="19019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3</a:t>
            </a:r>
            <a:endParaRPr lang="en-US" sz="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130552"/>
            <a:ext cx="201168" cy="201168"/>
          </a:xfrm>
          <a:prstGeom prst="rect">
            <a:avLst/>
          </a:prstGeom>
        </p:spPr>
      </p:pic>
      <p:sp>
        <p:nvSpPr>
          <p:cNvPr id="27" name="Day 2"/>
          <p:cNvSpPr/>
          <p:nvPr/>
        </p:nvSpPr>
        <p:spPr>
          <a:xfrm>
            <a:off x="6345936" y="1874520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391656" y="19019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4</a:t>
            </a:r>
            <a:endParaRPr lang="en-US" sz="800" dirty="0"/>
          </a:p>
        </p:txBody>
      </p:sp>
      <p:sp>
        <p:nvSpPr>
          <p:cNvPr id="29" name="Day 3"/>
          <p:cNvSpPr/>
          <p:nvPr/>
        </p:nvSpPr>
        <p:spPr>
          <a:xfrm>
            <a:off x="6858000" y="1874520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903720" y="19019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5</a:t>
            </a:r>
            <a:endParaRPr lang="en-US" sz="8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2130552"/>
            <a:ext cx="201168" cy="201168"/>
          </a:xfrm>
          <a:prstGeom prst="rect">
            <a:avLst/>
          </a:prstGeom>
        </p:spPr>
      </p:pic>
      <p:sp>
        <p:nvSpPr>
          <p:cNvPr id="32" name="Day 4"/>
          <p:cNvSpPr/>
          <p:nvPr/>
        </p:nvSpPr>
        <p:spPr>
          <a:xfrm>
            <a:off x="7370064" y="1874520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415784" y="19019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6</a:t>
            </a:r>
            <a:endParaRPr lang="en-US" sz="8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130552"/>
            <a:ext cx="201168" cy="201168"/>
          </a:xfrm>
          <a:prstGeom prst="rect">
            <a:avLst/>
          </a:prstGeom>
        </p:spPr>
      </p:pic>
      <p:sp>
        <p:nvSpPr>
          <p:cNvPr id="35" name="Day 5"/>
          <p:cNvSpPr/>
          <p:nvPr/>
        </p:nvSpPr>
        <p:spPr>
          <a:xfrm>
            <a:off x="7882128" y="1874520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927848" y="19019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7</a:t>
            </a:r>
            <a:endParaRPr lang="en-US" sz="800" dirty="0"/>
          </a:p>
        </p:txBody>
      </p:sp>
      <p:sp>
        <p:nvSpPr>
          <p:cNvPr id="37" name="Day 6"/>
          <p:cNvSpPr/>
          <p:nvPr/>
        </p:nvSpPr>
        <p:spPr>
          <a:xfrm>
            <a:off x="5833872" y="2496312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879592" y="25237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8</a:t>
            </a:r>
            <a:endParaRPr lang="en-US" sz="800" dirty="0"/>
          </a:p>
        </p:txBody>
      </p:sp>
      <p:sp>
        <p:nvSpPr>
          <p:cNvPr id="39" name="Day 7"/>
          <p:cNvSpPr/>
          <p:nvPr/>
        </p:nvSpPr>
        <p:spPr>
          <a:xfrm>
            <a:off x="6345936" y="2496312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6391656" y="25237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9</a:t>
            </a:r>
            <a:endParaRPr lang="en-US" sz="8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2752344"/>
            <a:ext cx="201168" cy="201168"/>
          </a:xfrm>
          <a:prstGeom prst="rect">
            <a:avLst/>
          </a:prstGeom>
        </p:spPr>
      </p:pic>
      <p:sp>
        <p:nvSpPr>
          <p:cNvPr id="42" name="Day 8"/>
          <p:cNvSpPr/>
          <p:nvPr/>
        </p:nvSpPr>
        <p:spPr>
          <a:xfrm>
            <a:off x="6858000" y="2496312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6903720" y="25237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10</a:t>
            </a:r>
            <a:endParaRPr lang="en-US" sz="800" dirty="0"/>
          </a:p>
        </p:txBody>
      </p:sp>
      <p:sp>
        <p:nvSpPr>
          <p:cNvPr id="44" name="Day 9"/>
          <p:cNvSpPr/>
          <p:nvPr/>
        </p:nvSpPr>
        <p:spPr>
          <a:xfrm>
            <a:off x="7370064" y="2496312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7415784" y="25237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11</a:t>
            </a:r>
            <a:endParaRPr lang="en-US" sz="8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2752344"/>
            <a:ext cx="201168" cy="201168"/>
          </a:xfrm>
          <a:prstGeom prst="rect">
            <a:avLst/>
          </a:prstGeom>
        </p:spPr>
      </p:pic>
      <p:sp>
        <p:nvSpPr>
          <p:cNvPr id="47" name="Day 10"/>
          <p:cNvSpPr/>
          <p:nvPr/>
        </p:nvSpPr>
        <p:spPr>
          <a:xfrm>
            <a:off x="7882128" y="2496312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48" name="Text 38"/>
          <p:cNvSpPr txBox="1"/>
          <p:nvPr/>
        </p:nvSpPr>
        <p:spPr>
          <a:xfrm>
            <a:off x="7927848" y="25237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12</a:t>
            </a:r>
            <a:endParaRPr lang="en-US" sz="8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144" y="2752344"/>
            <a:ext cx="201168" cy="201168"/>
          </a:xfrm>
          <a:prstGeom prst="rect">
            <a:avLst/>
          </a:prstGeom>
        </p:spPr>
      </p:pic>
      <p:sp>
        <p:nvSpPr>
          <p:cNvPr id="50" name="Day 11"/>
          <p:cNvSpPr/>
          <p:nvPr/>
        </p:nvSpPr>
        <p:spPr>
          <a:xfrm>
            <a:off x="5833872" y="3118104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5879592" y="314553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13</a:t>
            </a:r>
            <a:endParaRPr lang="en-US" sz="800" dirty="0"/>
          </a:p>
        </p:txBody>
      </p:sp>
      <p:sp>
        <p:nvSpPr>
          <p:cNvPr id="52" name="Day 12"/>
          <p:cNvSpPr/>
          <p:nvPr/>
        </p:nvSpPr>
        <p:spPr>
          <a:xfrm>
            <a:off x="6345936" y="3118104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53" name="Text 42"/>
          <p:cNvSpPr txBox="1"/>
          <p:nvPr/>
        </p:nvSpPr>
        <p:spPr>
          <a:xfrm>
            <a:off x="6391656" y="314553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14</a:t>
            </a:r>
            <a:endParaRPr lang="en-US" sz="80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3374136"/>
            <a:ext cx="201168" cy="201168"/>
          </a:xfrm>
          <a:prstGeom prst="rect">
            <a:avLst/>
          </a:prstGeom>
        </p:spPr>
      </p:pic>
      <p:sp>
        <p:nvSpPr>
          <p:cNvPr id="55" name="Day 13"/>
          <p:cNvSpPr/>
          <p:nvPr/>
        </p:nvSpPr>
        <p:spPr>
          <a:xfrm>
            <a:off x="6858000" y="3118104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56" name="Text 44"/>
          <p:cNvSpPr txBox="1"/>
          <p:nvPr/>
        </p:nvSpPr>
        <p:spPr>
          <a:xfrm>
            <a:off x="6903720" y="314553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15</a:t>
            </a:r>
            <a:endParaRPr lang="en-US" sz="800" dirty="0"/>
          </a:p>
        </p:txBody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6016" y="3374136"/>
            <a:ext cx="201168" cy="201168"/>
          </a:xfrm>
          <a:prstGeom prst="rect">
            <a:avLst/>
          </a:prstGeom>
        </p:spPr>
      </p:pic>
      <p:sp>
        <p:nvSpPr>
          <p:cNvPr id="58" name="Day 14"/>
          <p:cNvSpPr/>
          <p:nvPr/>
        </p:nvSpPr>
        <p:spPr>
          <a:xfrm>
            <a:off x="7370064" y="3118104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9" name="Text 46"/>
          <p:cNvSpPr txBox="1"/>
          <p:nvPr/>
        </p:nvSpPr>
        <p:spPr>
          <a:xfrm>
            <a:off x="7415784" y="314553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16</a:t>
            </a:r>
            <a:endParaRPr lang="en-US" sz="800" dirty="0"/>
          </a:p>
        </p:txBody>
      </p:sp>
      <p:sp>
        <p:nvSpPr>
          <p:cNvPr id="60" name="Day 15"/>
          <p:cNvSpPr/>
          <p:nvPr/>
        </p:nvSpPr>
        <p:spPr>
          <a:xfrm>
            <a:off x="7882128" y="3118104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61" name="Text 48"/>
          <p:cNvSpPr txBox="1"/>
          <p:nvPr/>
        </p:nvSpPr>
        <p:spPr>
          <a:xfrm>
            <a:off x="7927848" y="314553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17</a:t>
            </a:r>
            <a:endParaRPr lang="en-US" sz="800" dirty="0"/>
          </a:p>
        </p:txBody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0144" y="3374136"/>
            <a:ext cx="201168" cy="201168"/>
          </a:xfrm>
          <a:prstGeom prst="rect">
            <a:avLst/>
          </a:prstGeom>
        </p:spPr>
      </p:pic>
      <p:sp>
        <p:nvSpPr>
          <p:cNvPr id="63" name="Day 16"/>
          <p:cNvSpPr/>
          <p:nvPr/>
        </p:nvSpPr>
        <p:spPr>
          <a:xfrm>
            <a:off x="5833872" y="3739896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4" name="Text 50"/>
          <p:cNvSpPr txBox="1"/>
          <p:nvPr/>
        </p:nvSpPr>
        <p:spPr>
          <a:xfrm>
            <a:off x="5879592" y="3767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18</a:t>
            </a:r>
            <a:endParaRPr lang="en-US" sz="800" dirty="0"/>
          </a:p>
        </p:txBody>
      </p:sp>
      <p:sp>
        <p:nvSpPr>
          <p:cNvPr id="65" name="Day 17"/>
          <p:cNvSpPr/>
          <p:nvPr/>
        </p:nvSpPr>
        <p:spPr>
          <a:xfrm>
            <a:off x="6345936" y="3739896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66" name="Text 52"/>
          <p:cNvSpPr txBox="1"/>
          <p:nvPr/>
        </p:nvSpPr>
        <p:spPr>
          <a:xfrm>
            <a:off x="6391656" y="3767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19</a:t>
            </a:r>
            <a:endParaRPr lang="en-US" sz="800" dirty="0"/>
          </a:p>
        </p:txBody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3952" y="3995928"/>
            <a:ext cx="201168" cy="201168"/>
          </a:xfrm>
          <a:prstGeom prst="rect">
            <a:avLst/>
          </a:prstGeom>
        </p:spPr>
      </p:pic>
      <p:sp>
        <p:nvSpPr>
          <p:cNvPr id="68" name="Day 18"/>
          <p:cNvSpPr/>
          <p:nvPr/>
        </p:nvSpPr>
        <p:spPr>
          <a:xfrm>
            <a:off x="6858000" y="3739896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69" name="Text 54"/>
          <p:cNvSpPr txBox="1"/>
          <p:nvPr/>
        </p:nvSpPr>
        <p:spPr>
          <a:xfrm>
            <a:off x="6903720" y="3767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20</a:t>
            </a:r>
            <a:endParaRPr lang="en-US" sz="800" dirty="0"/>
          </a:p>
        </p:txBody>
      </p:sp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6016" y="3995928"/>
            <a:ext cx="201168" cy="201168"/>
          </a:xfrm>
          <a:prstGeom prst="rect">
            <a:avLst/>
          </a:prstGeom>
        </p:spPr>
      </p:pic>
      <p:sp>
        <p:nvSpPr>
          <p:cNvPr id="71" name="Day 19"/>
          <p:cNvSpPr/>
          <p:nvPr/>
        </p:nvSpPr>
        <p:spPr>
          <a:xfrm>
            <a:off x="7370064" y="3739896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2" name="Text 56"/>
          <p:cNvSpPr txBox="1"/>
          <p:nvPr/>
        </p:nvSpPr>
        <p:spPr>
          <a:xfrm>
            <a:off x="7415784" y="3767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21</a:t>
            </a:r>
            <a:endParaRPr lang="en-US" sz="800" dirty="0"/>
          </a:p>
        </p:txBody>
      </p:sp>
      <p:sp>
        <p:nvSpPr>
          <p:cNvPr id="73" name="Day 20"/>
          <p:cNvSpPr/>
          <p:nvPr/>
        </p:nvSpPr>
        <p:spPr>
          <a:xfrm>
            <a:off x="7882128" y="3739896"/>
            <a:ext cx="457200" cy="566928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74" name="Text 58"/>
          <p:cNvSpPr txBox="1"/>
          <p:nvPr/>
        </p:nvSpPr>
        <p:spPr>
          <a:xfrm>
            <a:off x="7927848" y="3767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22</a:t>
            </a:r>
            <a:endParaRPr lang="en-US" sz="800" dirty="0"/>
          </a:p>
        </p:txBody>
      </p:sp>
      <p:pic>
        <p:nvPicPr>
          <p:cNvPr id="7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10144" y="399592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Zdanmotion Bygg">
  <a:themeElements>
    <a:clrScheme name="Zdanmotion Bygg">
      <a:dk1>
        <a:srgbClr val="1C1F22"/>
      </a:dk1>
      <a:lt1>
        <a:srgbClr val="FFFFFF"/>
      </a:lt1>
      <a:dk2>
        <a:srgbClr val="2A2E32"/>
      </a:dk2>
      <a:lt2>
        <a:srgbClr val="F7F6F3"/>
      </a:lt2>
      <a:accent1>
        <a:srgbClr val="E8772E"/>
      </a:accent1>
      <a:accent2>
        <a:srgbClr val="3A3F44"/>
      </a:accent2>
      <a:accent3>
        <a:srgbClr val="8D887F"/>
      </a:accent3>
      <a:accent4>
        <a:srgbClr val="B9B4AA"/>
      </a:accent4>
      <a:accent5>
        <a:srgbClr val="E6E2DA"/>
      </a:accent5>
      <a:accent6>
        <a:srgbClr val="4A4D50"/>
      </a:accent6>
      <a:hlink>
        <a:srgbClr val="E8772E"/>
      </a:hlink>
      <a:folHlink>
        <a:srgbClr val="8D887F"/>
      </a:folHlink>
    </a:clrScheme>
    <a:fontScheme name="Zdanmotion Byg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Zdanmotion – Bygg</dc:title>
  <dc:subject>PptxGenJS Presentation</dc:subject>
  <dc:creator>PptxGenJS</dc:creator>
  <cp:lastModifiedBy>PptxGenJS</cp:lastModifiedBy>
  <cp:revision>1</cp:revision>
  <dcterms:created xsi:type="dcterms:W3CDTF">2026-10-22T16:39:39Z</dcterms:created>
  <dcterms:modified xsi:type="dcterms:W3CDTF">2026-10-22T16:39:39Z</dcterms:modified>
</cp:coreProperties>
</file>