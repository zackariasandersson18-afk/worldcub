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c4622800-a4f5-a114-0c06-e6f340e33c91}">
          <p14:sldIdLst>
            <p14:sldId id="256"/>
          </p14:sldIdLst>
        </p14:section>
        <p14:section name="Utmaningen" id="{7ab10bd9-b403-75f2-ec72-593498e6d118}">
          <p14:sldIdLst>
            <p14:sldId id="257"/>
          </p14:sldIdLst>
        </p14:section>
        <p14:section name="Lösningen" id="{c2eded9c-cf73-575b-fe7f-75028c83789c}">
          <p14:sldIdLst>
            <p14:sldId id="258"/>
            <p14:sldId id="259"/>
          </p14:sldIdLst>
        </p14:section>
        <p14:section name="Pris" id="{ecdcdcf0-a9ab-6836-09d6-338ab10acd4a}">
          <p14:sldIdLst>
            <p14:sldId id="260"/>
          </p14:sldIdLst>
        </p14:section>
        <p14:section name="Nästa steg" id="{fdbcb4d9-3b61-02c7-a454-f87f3700830a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Tacka för tiden. Kort om zdanmotion: vi gör videoannonser med motion graphics för byggföretag, kvalificerar leadsen och bokar hembesöken direkt i kundens kalender. Fråga hur mycket tid de har och börja gärna med några frågor om deras företag.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Fråga: känner du igen dig i någon av de här? Låt kunden prata och använd svaren när du visar lösningen.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Gå igenom stegen lugnt. Betona steg 3 och 4: vi kvalificerar varje lead och bokar in hembesöket direkt i deras kalender – de slipper jaga leads och åka ut till kunder som bara vill ha ett pris.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 här är kärnan: vi levererar inte bara klick eller leads. Varje lead kvalificeras på projekt, budget och tidsplan – och bokas sedan direkt in i deras kalender. De behöver inte ringa runt eller jaga någon.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 tjänar mest när de tjänar mest. Annonsbudgeten går rakt till Meta och syns i deras eget annonskonto – full insyn. Byt gärna exempelsiffrorna mot kundens egna: hur många besök de klarar per månad och vad ett snittjobb 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Avsluta med en direkt fråga och var tyst. Föreslå två konkreta tider för uppstartsmötet.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LIGH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zdanmotion.se</a:t>
            </a:r>
            <a:endParaRPr lang="en-US" sz="1000" dirty="0"/>
          </a:p>
        </p:txBody>
      </p:sp>
      <p:sp>
        <p:nvSpPr>
          <p:cNvPr id="11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12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681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zdanmotion.se</a:t>
            </a:r>
            <a:endParaRPr lang="en-US" sz="1000" dirty="0"/>
          </a:p>
        </p:txBody>
      </p:sp>
      <p:sp>
        <p:nvSpPr>
          <p:cNvPr id="11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12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228600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59368" y="2286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5400" y="228600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49149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4658868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59368" y="4914900"/>
            <a:ext cx="256032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15400" y="4658868"/>
            <a:ext cx="0" cy="256032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ZDANMOTION</a:t>
            </a:r>
            <a:endParaRPr lang="en-US" sz="1200" dirty="0"/>
          </a:p>
        </p:txBody>
      </p:sp>
      <p:sp>
        <p:nvSpPr>
          <p:cNvPr id="3" name="Cover title"/>
          <p:cNvSpPr txBox="1"/>
          <p:nvPr/>
        </p:nvSpPr>
        <p:spPr>
          <a:xfrm>
            <a:off x="548640" y="109728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Fler hembesök.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chemeClr val="accent1"/>
                </a:solidFill>
              </a:rPr>
              <a:t>Fler vunna jobb.</a:t>
            </a:r>
            <a:endParaRPr lang="en-US" sz="4200" dirty="0"/>
          </a:p>
        </p:txBody>
      </p:sp>
      <p:sp>
        <p:nvSpPr>
          <p:cNvPr id="4" name="Cover subtitle"/>
          <p:cNvSpPr txBox="1"/>
          <p:nvPr/>
        </p:nvSpPr>
        <p:spPr>
          <a:xfrm>
            <a:off x="548640" y="25146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Videoannonser med motion graphics för byggföretag. Vi kvalificerar leads och bokar hembesöken direkt i din kalender.</a:t>
            </a:r>
            <a:endParaRPr lang="en-US" sz="1500" dirty="0"/>
          </a:p>
        </p:txBody>
      </p:sp>
      <p:sp>
        <p:nvSpPr>
          <p:cNvPr id="5" name="Chip Motion graphics"/>
          <p:cNvSpPr/>
          <p:nvPr/>
        </p:nvSpPr>
        <p:spPr>
          <a:xfrm>
            <a:off x="548640" y="3520440"/>
            <a:ext cx="1623060" cy="34747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3611880"/>
            <a:ext cx="164592" cy="1645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86968" y="3520440"/>
            <a:ext cx="12390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Motion graphics</a:t>
            </a:r>
            <a:endParaRPr lang="en-US" sz="1100" dirty="0"/>
          </a:p>
        </p:txBody>
      </p:sp>
      <p:sp>
        <p:nvSpPr>
          <p:cNvPr id="8" name="Chip För byggföretag"/>
          <p:cNvSpPr/>
          <p:nvPr/>
        </p:nvSpPr>
        <p:spPr>
          <a:xfrm>
            <a:off x="2308860" y="3520440"/>
            <a:ext cx="1623060" cy="34747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7732" y="3611880"/>
            <a:ext cx="164592" cy="164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647188" y="3520440"/>
            <a:ext cx="12390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För byggföretag</a:t>
            </a:r>
            <a:endParaRPr lang="en-US" sz="1100" dirty="0"/>
          </a:p>
        </p:txBody>
      </p:sp>
      <p:sp>
        <p:nvSpPr>
          <p:cNvPr id="11" name="Chip Bokade hembesök"/>
          <p:cNvSpPr/>
          <p:nvPr/>
        </p:nvSpPr>
        <p:spPr>
          <a:xfrm>
            <a:off x="4069080" y="3520440"/>
            <a:ext cx="1623060" cy="347472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7952" y="3611880"/>
            <a:ext cx="164592" cy="164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07408" y="3520440"/>
            <a:ext cx="12390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Bokade hembesök</a:t>
            </a:r>
            <a:endParaRPr lang="en-US" sz="1100" dirty="0"/>
          </a:p>
        </p:txBody>
      </p:sp>
      <p:sp>
        <p:nvSpPr>
          <p:cNvPr id="14" name="Timeline"/>
          <p:cNvSpPr/>
          <p:nvPr/>
        </p:nvSpPr>
        <p:spPr>
          <a:xfrm>
            <a:off x="548640" y="4251960"/>
            <a:ext cx="4846320" cy="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15" name="Timeline progress"/>
          <p:cNvSpPr/>
          <p:nvPr/>
        </p:nvSpPr>
        <p:spPr>
          <a:xfrm>
            <a:off x="548640" y="4251960"/>
            <a:ext cx="310896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6" name="Keyframe 1"/>
          <p:cNvSpPr/>
          <p:nvPr/>
        </p:nvSpPr>
        <p:spPr>
          <a:xfrm>
            <a:off x="548640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7" name="Keyframe 2"/>
          <p:cNvSpPr/>
          <p:nvPr/>
        </p:nvSpPr>
        <p:spPr>
          <a:xfrm>
            <a:off x="1481328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8" name="Keyframe 3"/>
          <p:cNvSpPr/>
          <p:nvPr/>
        </p:nvSpPr>
        <p:spPr>
          <a:xfrm>
            <a:off x="2578608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19" name="Keyframe 4"/>
          <p:cNvSpPr/>
          <p:nvPr/>
        </p:nvSpPr>
        <p:spPr>
          <a:xfrm>
            <a:off x="3584448" y="417880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20" name="Keyframe 5"/>
          <p:cNvSpPr/>
          <p:nvPr/>
        </p:nvSpPr>
        <p:spPr>
          <a:xfrm>
            <a:off x="4636008" y="4178808"/>
            <a:ext cx="146304" cy="146304"/>
          </a:xfrm>
          <a:prstGeom prst="diamond">
            <a:avLst/>
          </a:prstGeom>
          <a:solidFill>
            <a:schemeClr val="accent6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548640" y="43708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Annons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4480560" y="43708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Hembesök</a:t>
            </a:r>
            <a:endParaRPr lang="en-US" sz="900" dirty="0"/>
          </a:p>
        </p:txBody>
      </p:sp>
      <p:sp>
        <p:nvSpPr>
          <p:cNvPr id="23" name="Glow"/>
          <p:cNvSpPr/>
          <p:nvPr/>
        </p:nvSpPr>
        <p:spPr>
          <a:xfrm>
            <a:off x="5806440" y="685800"/>
            <a:ext cx="3017520" cy="3017520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4" name="Video ad mockup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11480"/>
            <a:ext cx="2121408" cy="43159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UTMANINGEN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Bra hantverk fyller inte kalendern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00:00:02:00</a:t>
            </a:r>
            <a:endParaRPr lang="en-US" sz="900" dirty="0"/>
          </a:p>
        </p:txBody>
      </p:sp>
      <p:sp>
        <p:nvSpPr>
          <p:cNvPr id="6" name="Card 1"/>
          <p:cNvSpPr/>
          <p:nvPr/>
        </p:nvSpPr>
        <p:spPr>
          <a:xfrm>
            <a:off x="548640" y="1691640"/>
            <a:ext cx="2560320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Problem 1 circle"/>
          <p:cNvSpPr/>
          <p:nvPr/>
        </p:nvSpPr>
        <p:spPr>
          <a:xfrm>
            <a:off x="822960" y="1965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Problem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0312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22960" y="2697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Beroende av tips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10896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Jobben kommer när någon rekommenderar er – och uteblir när ingen gör det.</a:t>
            </a:r>
            <a:endParaRPr lang="en-US" sz="1400" dirty="0"/>
          </a:p>
        </p:txBody>
      </p:sp>
      <p:sp>
        <p:nvSpPr>
          <p:cNvPr id="11" name="Card 2"/>
          <p:cNvSpPr/>
          <p:nvPr/>
        </p:nvSpPr>
        <p:spPr>
          <a:xfrm>
            <a:off x="3291840" y="1691640"/>
            <a:ext cx="2560320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Problem 2 circle"/>
          <p:cNvSpPr/>
          <p:nvPr/>
        </p:nvSpPr>
        <p:spPr>
          <a:xfrm>
            <a:off x="3566160" y="1965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Problem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3320" y="210312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566160" y="2697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Ojämnt orderflöde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566160" y="310896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Fullt ena månaden, tomt nästa. Svårt att planera folk och material.</a:t>
            </a:r>
            <a:endParaRPr lang="en-US" sz="1400" dirty="0"/>
          </a:p>
        </p:txBody>
      </p:sp>
      <p:sp>
        <p:nvSpPr>
          <p:cNvPr id="16" name="Card 3"/>
          <p:cNvSpPr/>
          <p:nvPr/>
        </p:nvSpPr>
        <p:spPr>
          <a:xfrm>
            <a:off x="6035040" y="1691640"/>
            <a:ext cx="2560320" cy="2423160"/>
          </a:xfrm>
          <a:prstGeom prst="roundRect">
            <a:avLst>
              <a:gd name="adj" fmla="val 4528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Problem 3 circle"/>
          <p:cNvSpPr/>
          <p:nvPr/>
        </p:nvSpPr>
        <p:spPr>
          <a:xfrm>
            <a:off x="6309360" y="1965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Problem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10312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09360" y="2697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Fel förfrågningar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309360" y="3108960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Offerter och hembesök hos kunder som bara jämför priser.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SÅ FUNGERAR DET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Från videoannons till bokat hembesök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00:00:03:00</a:t>
            </a:r>
            <a:endParaRPr lang="en-US" sz="900" dirty="0"/>
          </a:p>
        </p:txBody>
      </p:sp>
      <p:sp>
        <p:nvSpPr>
          <p:cNvPr id="6" name="Editor panel"/>
          <p:cNvSpPr/>
          <p:nvPr/>
        </p:nvSpPr>
        <p:spPr>
          <a:xfrm>
            <a:off x="548640" y="1554480"/>
            <a:ext cx="8046720" cy="2697480"/>
          </a:xfrm>
          <a:prstGeom prst="roundRect">
            <a:avLst>
              <a:gd name="adj" fmla="val 3390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44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916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8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060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632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04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776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348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492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064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208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780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35240" y="1700784"/>
            <a:ext cx="0" cy="54864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92440" y="1700784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4" name="Clip 1"/>
          <p:cNvSpPr/>
          <p:nvPr/>
        </p:nvSpPr>
        <p:spPr>
          <a:xfrm>
            <a:off x="77724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30552"/>
            <a:ext cx="237744" cy="23774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123444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4"/>
                </a:solidFill>
              </a:rPr>
              <a:t>01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Videoannons</a:t>
            </a:r>
            <a:endParaRPr lang="en-US" sz="900" dirty="0"/>
          </a:p>
        </p:txBody>
      </p:sp>
      <p:sp>
        <p:nvSpPr>
          <p:cNvPr id="27" name="Keyframe 1"/>
          <p:cNvSpPr/>
          <p:nvPr/>
        </p:nvSpPr>
        <p:spPr>
          <a:xfrm>
            <a:off x="1618488" y="2670048"/>
            <a:ext cx="146304" cy="146304"/>
          </a:xfrm>
          <a:prstGeom prst="diamond">
            <a:avLst/>
          </a:prstGeom>
          <a:solidFill>
            <a:schemeClr val="accent6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724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Film och motion graphics som visar ert hantverk och bygger förtroende.</a:t>
            </a:r>
            <a:endParaRPr lang="en-US" sz="1400" dirty="0"/>
          </a:p>
        </p:txBody>
      </p:sp>
      <p:sp>
        <p:nvSpPr>
          <p:cNvPr id="29" name="Clip 2"/>
          <p:cNvSpPr/>
          <p:nvPr/>
        </p:nvSpPr>
        <p:spPr>
          <a:xfrm>
            <a:off x="269748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/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130552"/>
            <a:ext cx="237744" cy="237744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315468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4"/>
                </a:solidFill>
              </a:rPr>
              <a:t>02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Rätt målgrupp</a:t>
            </a:r>
            <a:endParaRPr lang="en-US" sz="900" dirty="0"/>
          </a:p>
        </p:txBody>
      </p:sp>
      <p:sp>
        <p:nvSpPr>
          <p:cNvPr id="32" name="Keyframe 2"/>
          <p:cNvSpPr/>
          <p:nvPr/>
        </p:nvSpPr>
        <p:spPr>
          <a:xfrm>
            <a:off x="3538728" y="2670048"/>
            <a:ext cx="146304" cy="146304"/>
          </a:xfrm>
          <a:prstGeom prst="diamond">
            <a:avLst/>
          </a:prstGeom>
          <a:solidFill>
            <a:schemeClr val="accent6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269748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Annonser till husägare i ert område på Facebook och Instagram.</a:t>
            </a:r>
            <a:endParaRPr lang="en-US" sz="1400" dirty="0"/>
          </a:p>
        </p:txBody>
      </p:sp>
      <p:sp>
        <p:nvSpPr>
          <p:cNvPr id="34" name="Clip 3"/>
          <p:cNvSpPr/>
          <p:nvPr/>
        </p:nvSpPr>
        <p:spPr>
          <a:xfrm>
            <a:off x="461772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130552"/>
            <a:ext cx="237744" cy="237744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507492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03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Vi kvalificerar</a:t>
            </a:r>
            <a:endParaRPr lang="en-US" sz="900" dirty="0"/>
          </a:p>
        </p:txBody>
      </p:sp>
      <p:sp>
        <p:nvSpPr>
          <p:cNvPr id="37" name="Keyframe 3"/>
          <p:cNvSpPr/>
          <p:nvPr/>
        </p:nvSpPr>
        <p:spPr>
          <a:xfrm>
            <a:off x="5458968" y="267004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461772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Frågor om projekt, budget och tidsplan sållar bort prisjägarna.</a:t>
            </a:r>
            <a:endParaRPr lang="en-US" sz="1400" dirty="0"/>
          </a:p>
        </p:txBody>
      </p:sp>
      <p:sp>
        <p:nvSpPr>
          <p:cNvPr id="39" name="Clip 4"/>
          <p:cNvSpPr/>
          <p:nvPr/>
        </p:nvSpPr>
        <p:spPr>
          <a:xfrm>
            <a:off x="6537960" y="1965960"/>
            <a:ext cx="1828800" cy="566928"/>
          </a:xfrm>
          <a:prstGeom prst="roundRect">
            <a:avLst>
              <a:gd name="adj" fmla="val 12903"/>
            </a:avLst>
          </a:prstGeom>
          <a:solidFill>
            <a:schemeClr val="accent1"/>
          </a:solidFill>
          <a:ln/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2130552"/>
            <a:ext cx="237744" cy="237744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6995160" y="196596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04</a:t>
            </a:r>
            <a:endParaRPr lang="en-US" sz="9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 din kalender</a:t>
            </a:r>
            <a:endParaRPr lang="en-US" sz="900" dirty="0"/>
          </a:p>
        </p:txBody>
      </p:sp>
      <p:sp>
        <p:nvSpPr>
          <p:cNvPr id="42" name="Keyframe 4"/>
          <p:cNvSpPr/>
          <p:nvPr/>
        </p:nvSpPr>
        <p:spPr>
          <a:xfrm>
            <a:off x="7379208" y="2670048"/>
            <a:ext cx="146304" cy="146304"/>
          </a:xfrm>
          <a:prstGeom prst="diamond">
            <a:avLst/>
          </a:prstGeom>
          <a:solidFill>
            <a:schemeClr val="accent1"/>
          </a:solidFill>
          <a:ln/>
        </p:spPr>
      </p:sp>
      <p:sp>
        <p:nvSpPr>
          <p:cNvPr id="43" name="Text 37"/>
          <p:cNvSpPr txBox="1"/>
          <p:nvPr/>
        </p:nvSpPr>
        <p:spPr>
          <a:xfrm>
            <a:off x="6537960" y="29718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Kunden bokas direkt in i er kalender. Ni åker ut och ger offert.</a:t>
            </a:r>
            <a:endParaRPr lang="en-US" sz="1400" dirty="0"/>
          </a:p>
        </p:txBody>
      </p:sp>
      <p:sp>
        <p:nvSpPr>
          <p:cNvPr id="44" name="Keyframe track"/>
          <p:cNvSpPr/>
          <p:nvPr/>
        </p:nvSpPr>
        <p:spPr>
          <a:xfrm>
            <a:off x="777240" y="2743200"/>
            <a:ext cx="7498080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45" name="Playhead"/>
          <p:cNvSpPr/>
          <p:nvPr/>
        </p:nvSpPr>
        <p:spPr>
          <a:xfrm>
            <a:off x="4572000" y="1645920"/>
            <a:ext cx="0" cy="1188720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46" name="Playhead head"/>
          <p:cNvSpPr/>
          <p:nvPr/>
        </p:nvSpPr>
        <p:spPr>
          <a:xfrm rot="10800000">
            <a:off x="4480560" y="1609344"/>
            <a:ext cx="182880" cy="128016"/>
          </a:xfrm>
          <a:prstGeom prst="triangle">
            <a:avLst/>
          </a:prstGeom>
          <a:solidFill>
            <a:schemeClr val="bg1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KVALIFICERING &amp; BOKNING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Kvalificerade leads – direkt i din kalender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00:00:04:00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Vi ställer rätt frågor, sållar bort prisjägarna och bokar in hembesöket åt dig.</a:t>
            </a:r>
            <a:endParaRPr lang="en-US" sz="1400" dirty="0"/>
          </a:p>
        </p:txBody>
      </p:sp>
      <p:sp>
        <p:nvSpPr>
          <p:cNvPr id="7" name="Lead card"/>
          <p:cNvSpPr/>
          <p:nvPr/>
        </p:nvSpPr>
        <p:spPr>
          <a:xfrm>
            <a:off x="548640" y="1965960"/>
            <a:ext cx="356616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Ny förfrågan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Anna L. · Täby</a:t>
            </a:r>
            <a:endParaRPr lang="en-US" sz="1400" dirty="0"/>
          </a:p>
        </p:txBody>
      </p:sp>
      <p:sp>
        <p:nvSpPr>
          <p:cNvPr id="9" name="Qualified badge"/>
          <p:cNvSpPr/>
          <p:nvPr/>
        </p:nvSpPr>
        <p:spPr>
          <a:xfrm>
            <a:off x="2788920" y="2157984"/>
            <a:ext cx="114300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88920" y="215798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KVALIFICERAD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77240" y="265176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770632"/>
            <a:ext cx="201168" cy="20116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097280" y="27249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Projekt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057400" y="27249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Altan 30 kvm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77240" y="306324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82112"/>
            <a:ext cx="201168" cy="20116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280" y="313639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Budget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2057400" y="31363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150–200 000 kr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777240" y="347472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93592"/>
            <a:ext cx="201168" cy="20116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0" y="354787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Start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2057400" y="35478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Inom 2 månader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777240" y="3886200"/>
            <a:ext cx="310896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4005072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97280" y="39593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Husägare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2057400" y="395935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Ja</a:t>
            </a:r>
            <a:endParaRPr lang="en-US" sz="1300" dirty="0"/>
          </a:p>
        </p:txBody>
      </p:sp>
      <p:sp>
        <p:nvSpPr>
          <p:cNvPr id="27" name="Flow arrow circle"/>
          <p:cNvSpPr/>
          <p:nvPr/>
        </p:nvSpPr>
        <p:spPr>
          <a:xfrm>
            <a:off x="4325112" y="2990088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8" name="Flow arrow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9412" y="3104388"/>
            <a:ext cx="228600" cy="228600"/>
          </a:xfrm>
          <a:prstGeom prst="rect">
            <a:avLst/>
          </a:prstGeom>
        </p:spPr>
      </p:pic>
      <p:sp>
        <p:nvSpPr>
          <p:cNvPr id="29" name="Calendar"/>
          <p:cNvSpPr/>
          <p:nvPr/>
        </p:nvSpPr>
        <p:spPr>
          <a:xfrm>
            <a:off x="4983480" y="1965960"/>
            <a:ext cx="361188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12080" y="2130552"/>
            <a:ext cx="219456" cy="21945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5532120" y="2103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Din kalender · vecka 44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5212080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Mån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5843016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Tis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5843016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6473952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Ons</a:t>
            </a:r>
            <a:endParaRPr lang="en-US" sz="1000" dirty="0"/>
          </a:p>
        </p:txBody>
      </p:sp>
      <p:sp>
        <p:nvSpPr>
          <p:cNvPr id="36" name="Shape 28"/>
          <p:cNvSpPr/>
          <p:nvPr/>
        </p:nvSpPr>
        <p:spPr>
          <a:xfrm>
            <a:off x="6473952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7104888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Tor</a:t>
            </a:r>
            <a:endParaRPr lang="en-US" sz="1000" dirty="0"/>
          </a:p>
        </p:txBody>
      </p:sp>
      <p:sp>
        <p:nvSpPr>
          <p:cNvPr id="38" name="Shape 30"/>
          <p:cNvSpPr/>
          <p:nvPr/>
        </p:nvSpPr>
        <p:spPr>
          <a:xfrm>
            <a:off x="7104888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7735824" y="2487168"/>
            <a:ext cx="630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Fre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7735824" y="2743200"/>
            <a:ext cx="0" cy="155448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5212080" y="2743200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2" name="Shape 34"/>
          <p:cNvSpPr/>
          <p:nvPr/>
        </p:nvSpPr>
        <p:spPr>
          <a:xfrm>
            <a:off x="5212080" y="3264408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3" name="Shape 35"/>
          <p:cNvSpPr/>
          <p:nvPr/>
        </p:nvSpPr>
        <p:spPr>
          <a:xfrm>
            <a:off x="5212080" y="3785616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4" name="Shape 36"/>
          <p:cNvSpPr/>
          <p:nvPr/>
        </p:nvSpPr>
        <p:spPr>
          <a:xfrm>
            <a:off x="5212080" y="4297680"/>
            <a:ext cx="315468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</p:sp>
      <p:sp>
        <p:nvSpPr>
          <p:cNvPr id="45" name="Event Anna L."/>
          <p:cNvSpPr/>
          <p:nvPr/>
        </p:nvSpPr>
        <p:spPr>
          <a:xfrm>
            <a:off x="5248656" y="2779776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accent1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5248656" y="2779776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Hembesök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bg1"/>
                </a:solidFill>
              </a:rPr>
              <a:t>Anna L.</a:t>
            </a:r>
            <a:endParaRPr lang="en-US" sz="750" dirty="0"/>
          </a:p>
        </p:txBody>
      </p:sp>
      <p:sp>
        <p:nvSpPr>
          <p:cNvPr id="47" name="Event jobb"/>
          <p:cNvSpPr/>
          <p:nvPr/>
        </p:nvSpPr>
        <p:spPr>
          <a:xfrm>
            <a:off x="5879592" y="3822192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5879592" y="3822192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3"/>
                </a:solidFill>
              </a:rPr>
              <a:t>Pågående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jobb</a:t>
            </a:r>
            <a:endParaRPr lang="en-US" sz="750" dirty="0"/>
          </a:p>
        </p:txBody>
      </p:sp>
      <p:sp>
        <p:nvSpPr>
          <p:cNvPr id="49" name="Event Erik S."/>
          <p:cNvSpPr/>
          <p:nvPr/>
        </p:nvSpPr>
        <p:spPr>
          <a:xfrm>
            <a:off x="6510528" y="3300984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accent1"/>
          </a:solidFill>
          <a:ln/>
        </p:spPr>
      </p:sp>
      <p:sp>
        <p:nvSpPr>
          <p:cNvPr id="50" name="Text 42"/>
          <p:cNvSpPr txBox="1"/>
          <p:nvPr/>
        </p:nvSpPr>
        <p:spPr>
          <a:xfrm>
            <a:off x="6510528" y="3300984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Hembesök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bg1"/>
                </a:solidFill>
              </a:rPr>
              <a:t>Erik S.</a:t>
            </a:r>
            <a:endParaRPr lang="en-US" sz="750" dirty="0"/>
          </a:p>
        </p:txBody>
      </p:sp>
      <p:sp>
        <p:nvSpPr>
          <p:cNvPr id="51" name="Event jobb"/>
          <p:cNvSpPr/>
          <p:nvPr/>
        </p:nvSpPr>
        <p:spPr>
          <a:xfrm>
            <a:off x="7141464" y="2779776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bg2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7141464" y="2779776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3"/>
                </a:solidFill>
              </a:rPr>
              <a:t>Pågående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accent3"/>
                </a:solidFill>
              </a:rPr>
              <a:t>jobb</a:t>
            </a:r>
            <a:endParaRPr lang="en-US" sz="750" dirty="0"/>
          </a:p>
        </p:txBody>
      </p:sp>
      <p:sp>
        <p:nvSpPr>
          <p:cNvPr id="53" name="Event Maria K."/>
          <p:cNvSpPr/>
          <p:nvPr/>
        </p:nvSpPr>
        <p:spPr>
          <a:xfrm>
            <a:off x="7772400" y="3822192"/>
            <a:ext cx="557784" cy="448056"/>
          </a:xfrm>
          <a:prstGeom prst="roundRect">
            <a:avLst>
              <a:gd name="adj" fmla="val 10204"/>
            </a:avLst>
          </a:prstGeom>
          <a:solidFill>
            <a:schemeClr val="accent1"/>
          </a:solidFill>
          <a:ln/>
        </p:spPr>
      </p:sp>
      <p:sp>
        <p:nvSpPr>
          <p:cNvPr id="54" name="Text 46"/>
          <p:cNvSpPr txBox="1"/>
          <p:nvPr/>
        </p:nvSpPr>
        <p:spPr>
          <a:xfrm>
            <a:off x="7772400" y="3822192"/>
            <a:ext cx="557784" cy="4480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Hembesök</a:t>
            </a:r>
            <a:endParaRPr lang="en-US" sz="750" dirty="0"/>
          </a:p>
          <a:p>
            <a:pPr algn="ctr" indent="0" marL="0">
              <a:buNone/>
            </a:pPr>
            <a:r>
              <a:rPr lang="en-US" sz="750" dirty="0">
                <a:solidFill>
                  <a:schemeClr val="bg1"/>
                </a:solidFill>
              </a:rPr>
              <a:t>Maria K.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9"/>
          <p:cNvSpPr/>
          <p:nvPr>
            <p:ph idx="109" type="body" hasCustomPrompt="1"/>
          </p:nvPr>
        </p:nvSpPr>
        <p:spPr>
          <a:xfrm>
            <a:off x="548640" y="38404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PRISMODELL</a:t>
            </a:r>
            <a:endParaRPr lang="en-US" sz="1100" dirty="0"/>
          </a:p>
        </p:txBody>
      </p:sp>
      <p:sp>
        <p:nvSpPr>
          <p:cNvPr id="3" name="Text 9"/>
          <p:cNvSpPr/>
          <p:nvPr>
            <p:ph idx="110" type="title" hasCustomPrompt="1"/>
          </p:nvPr>
        </p:nvSpPr>
        <p:spPr>
          <a:xfrm>
            <a:off x="548640" y="65836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Ni betalar för resultat</a:t>
            </a:r>
            <a:endParaRPr lang="en-US" sz="3000" dirty="0"/>
          </a:p>
        </p:txBody>
      </p:sp>
      <p:sp>
        <p:nvSpPr>
          <p:cNvPr id="4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REC  00:00:05:00</a:t>
            </a:r>
            <a:endParaRPr lang="en-US" sz="900" dirty="0"/>
          </a:p>
        </p:txBody>
      </p:sp>
      <p:sp>
        <p:nvSpPr>
          <p:cNvPr id="6" name="Price 500 kr"/>
          <p:cNvSpPr/>
          <p:nvPr/>
        </p:nvSpPr>
        <p:spPr>
          <a:xfrm>
            <a:off x="548640" y="1600200"/>
            <a:ext cx="1536192" cy="2834640"/>
          </a:xfrm>
          <a:prstGeom prst="roundRect">
            <a:avLst>
              <a:gd name="adj" fmla="val 5952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 kr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3774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per bokat hembesök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301752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För varje kvalificerat besök i er kalender.</a:t>
            </a:r>
            <a:endParaRPr lang="en-US" sz="1200" dirty="0"/>
          </a:p>
        </p:txBody>
      </p:sp>
      <p:sp>
        <p:nvSpPr>
          <p:cNvPr id="10" name="Price 5 %"/>
          <p:cNvSpPr/>
          <p:nvPr/>
        </p:nvSpPr>
        <p:spPr>
          <a:xfrm>
            <a:off x="2221992" y="1600200"/>
            <a:ext cx="1536192" cy="2834640"/>
          </a:xfrm>
          <a:prstGeom prst="roundRect">
            <a:avLst>
              <a:gd name="adj" fmla="val 5952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86584" y="17830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5 %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386584" y="23774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av vinsten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386584" y="301752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På de jobb ni vinner från våra besök.</a:t>
            </a:r>
            <a:endParaRPr lang="en-US" sz="1200" dirty="0"/>
          </a:p>
        </p:txBody>
      </p:sp>
      <p:sp>
        <p:nvSpPr>
          <p:cNvPr id="14" name="Price 300 kr"/>
          <p:cNvSpPr/>
          <p:nvPr/>
        </p:nvSpPr>
        <p:spPr>
          <a:xfrm>
            <a:off x="3895344" y="1600200"/>
            <a:ext cx="1536192" cy="2834640"/>
          </a:xfrm>
          <a:prstGeom prst="roundRect">
            <a:avLst>
              <a:gd name="adj" fmla="val 5952"/>
            </a:avLst>
          </a:prstGeom>
          <a:solidFill>
            <a:schemeClr val="tx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9936" y="17830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300 kr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059936" y="23774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per dag i annonser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059936" y="301752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Går direkt till Meta. Ca 9 000 kr/mån.</a:t>
            </a:r>
            <a:endParaRPr lang="en-US" sz="1200" dirty="0"/>
          </a:p>
        </p:txBody>
      </p:sp>
      <p:sp>
        <p:nvSpPr>
          <p:cNvPr id="18" name="Example box"/>
          <p:cNvSpPr/>
          <p:nvPr/>
        </p:nvSpPr>
        <p:spPr>
          <a:xfrm>
            <a:off x="5669280" y="1600200"/>
            <a:ext cx="2926080" cy="2834640"/>
          </a:xfrm>
          <a:prstGeom prst="roundRect">
            <a:avLst>
              <a:gd name="adj" fmla="val 3226"/>
            </a:avLst>
          </a:prstGeom>
          <a:solidFill>
            <a:schemeClr val="accent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70448" y="1755648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tx1"/>
                </a:solidFill>
              </a:rPr>
              <a:t>RÄKNEEXEMPEL · 1 MÅNAD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870448" y="20756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Annonser 30 × 300 kr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20756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9 000 kr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870448" y="24048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 hembesök × 500 kr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2404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5 000 kr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870448" y="27340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5 % av 150 000 kr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27340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7 500 kr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870448" y="3099816"/>
            <a:ext cx="2542032" cy="0"/>
          </a:xfrm>
          <a:prstGeom prst="line">
            <a:avLst/>
          </a:prstGeom>
          <a:noFill/>
          <a:ln w="12700">
            <a:solidFill>
              <a:schemeClr val="tx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870448" y="31546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Totalt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21 500 kr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870448" y="35661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95 %</a:t>
            </a:r>
            <a:endParaRPr lang="en-US" sz="28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av vinsten behåller ni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2743200" y="4681728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Exempelsiffror – faktiskt utfall varierar per företag och område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80960" y="4681728"/>
            <a:ext cx="9144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 dot"/>
          <p:cNvSpPr/>
          <p:nvPr/>
        </p:nvSpPr>
        <p:spPr>
          <a:xfrm>
            <a:off x="7360920" y="429768"/>
            <a:ext cx="118872" cy="118872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3" name="Timecode"/>
          <p:cNvSpPr txBox="1"/>
          <p:nvPr/>
        </p:nvSpPr>
        <p:spPr>
          <a:xfrm>
            <a:off x="7543800" y="365760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tx1"/>
                </a:solidFill>
              </a:rPr>
              <a:t>REC  00:00:06:00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tx1"/>
                </a:solidFill>
              </a:rPr>
              <a:t>ZDANMOTION</a:t>
            </a:r>
            <a:endParaRPr lang="en-US" sz="1200" dirty="0"/>
          </a:p>
        </p:txBody>
      </p:sp>
      <p:sp>
        <p:nvSpPr>
          <p:cNvPr id="5" name="CTA title"/>
          <p:cNvSpPr txBox="1"/>
          <p:nvPr/>
        </p:nvSpPr>
        <p:spPr>
          <a:xfrm>
            <a:off x="548640" y="9601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chemeClr val="tx1"/>
                </a:solidFill>
              </a:rPr>
              <a:t>Ska vi fylla er kalender?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74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Från ja till första bokade hembesöket:</a:t>
            </a:r>
            <a:endParaRPr lang="en-US" sz="1500" dirty="0"/>
          </a:p>
        </p:txBody>
      </p:sp>
      <p:sp>
        <p:nvSpPr>
          <p:cNvPr id="7" name="Steps line"/>
          <p:cNvSpPr/>
          <p:nvPr/>
        </p:nvSpPr>
        <p:spPr>
          <a:xfrm>
            <a:off x="777240" y="2697480"/>
            <a:ext cx="6035040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8" name="Step 1"/>
          <p:cNvSpPr/>
          <p:nvPr/>
        </p:nvSpPr>
        <p:spPr>
          <a:xfrm>
            <a:off x="548640" y="246888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Uppstartsmöte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40156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Tjänster, område och drömkund.</a:t>
            </a:r>
            <a:endParaRPr lang="en-US" sz="1400" dirty="0"/>
          </a:p>
        </p:txBody>
      </p:sp>
      <p:sp>
        <p:nvSpPr>
          <p:cNvPr id="12" name="Step 2"/>
          <p:cNvSpPr/>
          <p:nvPr/>
        </p:nvSpPr>
        <p:spPr>
          <a:xfrm>
            <a:off x="2560320" y="246888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5603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Produktion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560320" y="340156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Videoannonser och kvalificeringsformulär.</a:t>
            </a:r>
            <a:endParaRPr lang="en-US" sz="1400" dirty="0"/>
          </a:p>
        </p:txBody>
      </p:sp>
      <p:sp>
        <p:nvSpPr>
          <p:cNvPr id="16" name="Step 3"/>
          <p:cNvSpPr/>
          <p:nvPr/>
        </p:nvSpPr>
        <p:spPr>
          <a:xfrm>
            <a:off x="4572000" y="246888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Annonser live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340156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Kampanjen startar med 300 kr per dag.</a:t>
            </a:r>
            <a:endParaRPr lang="en-US" sz="1400" dirty="0"/>
          </a:p>
        </p:txBody>
      </p:sp>
      <p:sp>
        <p:nvSpPr>
          <p:cNvPr id="20" name="Step 4"/>
          <p:cNvSpPr/>
          <p:nvPr/>
        </p:nvSpPr>
        <p:spPr>
          <a:xfrm>
            <a:off x="6583680" y="2468880"/>
            <a:ext cx="457200" cy="45720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Hembesök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3401568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Första kunderna bokas in i er kalender.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zdanmotion.se</a:t>
            </a:r>
            <a:endParaRPr lang="en-US" sz="12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Zdanmotion Bygg">
  <a:themeElements>
    <a:clrScheme name="Zdanmotion Bygg">
      <a:dk1>
        <a:srgbClr val="1C1F22"/>
      </a:dk1>
      <a:lt1>
        <a:srgbClr val="FFFFFF"/>
      </a:lt1>
      <a:dk2>
        <a:srgbClr val="2A2E32"/>
      </a:dk2>
      <a:lt2>
        <a:srgbClr val="F7F6F3"/>
      </a:lt2>
      <a:accent1>
        <a:srgbClr val="E8772E"/>
      </a:accent1>
      <a:accent2>
        <a:srgbClr val="3A3F44"/>
      </a:accent2>
      <a:accent3>
        <a:srgbClr val="8D887F"/>
      </a:accent3>
      <a:accent4>
        <a:srgbClr val="B9B4AA"/>
      </a:accent4>
      <a:accent5>
        <a:srgbClr val="E6E2DA"/>
      </a:accent5>
      <a:accent6>
        <a:srgbClr val="4A4D50"/>
      </a:accent6>
      <a:hlink>
        <a:srgbClr val="E8772E"/>
      </a:hlink>
      <a:folHlink>
        <a:srgbClr val="8D887F"/>
      </a:folHlink>
    </a:clrScheme>
    <a:fontScheme name="Zdanmotion Bygg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Zdanmotion – Bygg</dc:title>
  <dc:subject>PptxGenJS Presentation</dc:subject>
  <dc:creator>PptxGenJS</dc:creator>
  <cp:lastModifiedBy>PptxGenJS</cp:lastModifiedBy>
  <cp:revision>1</cp:revision>
  <dcterms:created xsi:type="dcterms:W3CDTF">2026-10-22T16:11:15Z</dcterms:created>
  <dcterms:modified xsi:type="dcterms:W3CDTF">2026-10-22T16:11:15Z</dcterms:modified>
</cp:coreProperties>
</file>