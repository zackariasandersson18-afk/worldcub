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" id="{c4891b48-c789-7068-132e-b7c98caa0d9f}">
          <p14:sldIdLst>
            <p14:sldId id="256"/>
          </p14:sldIdLst>
        </p14:section>
        <p14:section name="Agenda" id="{4d166943-0d28-e238-539a-316e2722fb56}">
          <p14:sldIdLst>
            <p14:sldId id="257"/>
          </p14:sldIdLst>
        </p14:section>
        <p14:section name="Lösningen" id="{e1ab578a-ec34-8521-b2a1-106ebc5d939b}">
          <p14:sldIdLst>
            <p14:sldId id="258"/>
            <p14:sldId id="259"/>
            <p14:sldId id="260"/>
          </p14:sldIdLst>
        </p14:section>
        <p14:section name="Pris" id="{cbdfc9ec-83c6-ce30-682b-727cae97a035}">
          <p14:sldIdLst>
            <p14:sldId id="261"/>
          </p14:sldIdLst>
        </p14:section>
        <p14:section name="Nästa steg" id="{c4135fda-58f8-57a6-9f48-f8eebff91aa9}">
          <p14:sldIdLst>
            <p14:sldId id="26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Tacka för tiden. Kort om zdanmotion: vi gör videoannonser med motion graphics för byggföretag, kvalificerar leadsen och bokar hembesöken direkt i kundens kalender. Fråga hur mycket tid de har och börja gärna med några frågor om deras företag.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Gå igenom agendan: hur systemet fungerar, hur vi kvalificerar och bokar in hembesök i kalendern, appen och sedan investering. Koppla målen till det kunden sa i kartläggningen (fler jobb, kunna planera, slippa jaga). Säg tydligt att ni tar ett beslut i slutet av mötet – och att ett nej är helt okej.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Gå igenom stegen lugnt. Betona steg 3 och 4: vi kvalificerar varje lead och bokar in hembesöket direkt i deras kalender – de slipper jaga leads och åka ut till kunder som bara vill ha ett pris.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Det här är kärnan: vi levererar inte bara klick eller leads. Varje lead kvalificeras på projekt, budget och tidsplan – och bokas sedan direkt in i deras kalender. De behöver inte ringa runt eller jaga någon.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Visa appen: alla hembesök i en kalender, SMS-notis när något bokas, chatt med leads via SMS och statistik över bokade besök. Fråga: är det du som går på hembesöken? Då är det du som får notiserna.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Vi tjänar mest när de tjänar mest. Annonsbudgeten går rakt till Meta och syns i deras eget annonskonto – full insyn. Byt gärna exempelsiffrorna mot kundens egna: hur många besök de klarar per månad och vad ett snittjobb ger.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Fråga: Vad känner du? Hur vill du gå vidare härifrån? Var tyst och låt kunden svara. Vid ja: skicka avtalet för e-signering direkt under samtalet och be om bilder och filmer i en Google Drive-mapp.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DARK-image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LIGHT-image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COVER-image-1.png"/><Relationship Id="rId2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28600" y="228600"/>
            <a:ext cx="256032" cy="0"/>
          </a:xfrm>
          <a:prstGeom prst="line">
            <a:avLst/>
          </a:prstGeom>
          <a:noFill/>
          <a:ln w="19050">
            <a:solidFill>
              <a:schemeClr val="accent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28600" y="228600"/>
            <a:ext cx="0" cy="256032"/>
          </a:xfrm>
          <a:prstGeom prst="line">
            <a:avLst/>
          </a:prstGeom>
          <a:noFill/>
          <a:ln w="19050">
            <a:solidFill>
              <a:schemeClr val="accent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659368" y="228600"/>
            <a:ext cx="256032" cy="0"/>
          </a:xfrm>
          <a:prstGeom prst="line">
            <a:avLst/>
          </a:prstGeom>
          <a:noFill/>
          <a:ln w="19050">
            <a:solidFill>
              <a:schemeClr val="accent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915400" y="228600"/>
            <a:ext cx="0" cy="256032"/>
          </a:xfrm>
          <a:prstGeom prst="line">
            <a:avLst/>
          </a:prstGeom>
          <a:noFill/>
          <a:ln w="19050">
            <a:solidFill>
              <a:schemeClr val="accent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4914900"/>
            <a:ext cx="256032" cy="0"/>
          </a:xfrm>
          <a:prstGeom prst="line">
            <a:avLst/>
          </a:prstGeom>
          <a:noFill/>
          <a:ln w="19050">
            <a:solidFill>
              <a:schemeClr val="accent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28600" y="4658868"/>
            <a:ext cx="0" cy="256032"/>
          </a:xfrm>
          <a:prstGeom prst="line">
            <a:avLst/>
          </a:prstGeom>
          <a:noFill/>
          <a:ln w="19050">
            <a:solidFill>
              <a:schemeClr val="accent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659368" y="4914900"/>
            <a:ext cx="256032" cy="0"/>
          </a:xfrm>
          <a:prstGeom prst="line">
            <a:avLst/>
          </a:prstGeom>
          <a:noFill/>
          <a:ln w="19050">
            <a:solidFill>
              <a:schemeClr val="accent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915400" y="4658868"/>
            <a:ext cx="0" cy="256032"/>
          </a:xfrm>
          <a:prstGeom prst="line">
            <a:avLst/>
          </a:prstGeom>
          <a:noFill/>
          <a:ln w="19050">
            <a:solidFill>
              <a:schemeClr val="accent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46817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zdanmotion.se</a:t>
            </a:r>
            <a:endParaRPr lang="en-US" sz="1000" dirty="0"/>
          </a:p>
        </p:txBody>
      </p:sp>
      <p:sp>
        <p:nvSpPr>
          <p:cNvPr id="11" name="Text 9"/>
          <p:cNvSpPr/>
          <p:nvPr>
            <p:ph idx="109" type="body" hasCustomPrompt="1"/>
          </p:nvPr>
        </p:nvSpPr>
        <p:spPr>
          <a:xfrm>
            <a:off x="548640" y="384048"/>
            <a:ext cx="59436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b="1" spc="300" kern="0" dirty="0">
                <a:solidFill>
                  <a:schemeClr val="accent1"/>
                </a:solidFill>
              </a:defRPr>
            </a:lvl1pPr>
          </a:lstStyle>
          <a:p>
            <a:pPr indent="0" marL="0">
              <a:buNone/>
            </a:pPr>
            <a:endParaRPr lang="en-US" sz="1100" dirty="0"/>
          </a:p>
        </p:txBody>
      </p:sp>
      <p:sp>
        <p:nvSpPr>
          <p:cNvPr id="12" name="Text 9"/>
          <p:cNvSpPr/>
          <p:nvPr>
            <p:ph idx="110" type="title" hasCustomPrompt="1"/>
          </p:nvPr>
        </p:nvSpPr>
        <p:spPr>
          <a:xfrm>
            <a:off x="548640" y="658368"/>
            <a:ext cx="804672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680960" y="4681728"/>
            <a:ext cx="9144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28600" y="228600"/>
            <a:ext cx="256032" cy="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28600" y="228600"/>
            <a:ext cx="0" cy="256032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659368" y="228600"/>
            <a:ext cx="256032" cy="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915400" y="228600"/>
            <a:ext cx="0" cy="256032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4914900"/>
            <a:ext cx="256032" cy="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28600" y="4658868"/>
            <a:ext cx="0" cy="256032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659368" y="4914900"/>
            <a:ext cx="256032" cy="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915400" y="4658868"/>
            <a:ext cx="0" cy="256032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46817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zdanmotion.se</a:t>
            </a:r>
            <a:endParaRPr lang="en-US" sz="1000" dirty="0"/>
          </a:p>
        </p:txBody>
      </p:sp>
      <p:sp>
        <p:nvSpPr>
          <p:cNvPr id="11" name="Text 9"/>
          <p:cNvSpPr/>
          <p:nvPr>
            <p:ph idx="109" type="body" hasCustomPrompt="1"/>
          </p:nvPr>
        </p:nvSpPr>
        <p:spPr>
          <a:xfrm>
            <a:off x="548640" y="384048"/>
            <a:ext cx="59436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b="1" spc="300" kern="0" dirty="0">
                <a:solidFill>
                  <a:schemeClr val="accent1"/>
                </a:solidFill>
              </a:defRPr>
            </a:lvl1pPr>
          </a:lstStyle>
          <a:p>
            <a:pPr indent="0" marL="0">
              <a:buNone/>
            </a:pPr>
            <a:endParaRPr lang="en-US" sz="1100" dirty="0"/>
          </a:p>
        </p:txBody>
      </p:sp>
      <p:sp>
        <p:nvSpPr>
          <p:cNvPr id="12" name="Text 9"/>
          <p:cNvSpPr/>
          <p:nvPr>
            <p:ph idx="110" type="title" hasCustomPrompt="1"/>
          </p:nvPr>
        </p:nvSpPr>
        <p:spPr>
          <a:xfrm>
            <a:off x="548640" y="658368"/>
            <a:ext cx="804672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680960" y="4681728"/>
            <a:ext cx="9144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28600" y="228600"/>
            <a:ext cx="256032" cy="0"/>
          </a:xfrm>
          <a:prstGeom prst="line">
            <a:avLst/>
          </a:prstGeom>
          <a:noFill/>
          <a:ln w="19050">
            <a:solidFill>
              <a:schemeClr val="accent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28600" y="228600"/>
            <a:ext cx="0" cy="256032"/>
          </a:xfrm>
          <a:prstGeom prst="line">
            <a:avLst/>
          </a:prstGeom>
          <a:noFill/>
          <a:ln w="19050">
            <a:solidFill>
              <a:schemeClr val="accent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659368" y="228600"/>
            <a:ext cx="256032" cy="0"/>
          </a:xfrm>
          <a:prstGeom prst="line">
            <a:avLst/>
          </a:prstGeom>
          <a:noFill/>
          <a:ln w="19050">
            <a:solidFill>
              <a:schemeClr val="accent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915400" y="228600"/>
            <a:ext cx="0" cy="256032"/>
          </a:xfrm>
          <a:prstGeom prst="line">
            <a:avLst/>
          </a:prstGeom>
          <a:noFill/>
          <a:ln w="19050">
            <a:solidFill>
              <a:schemeClr val="accent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4914900"/>
            <a:ext cx="256032" cy="0"/>
          </a:xfrm>
          <a:prstGeom prst="line">
            <a:avLst/>
          </a:prstGeom>
          <a:noFill/>
          <a:ln w="19050">
            <a:solidFill>
              <a:schemeClr val="accent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28600" y="4658868"/>
            <a:ext cx="0" cy="256032"/>
          </a:xfrm>
          <a:prstGeom prst="line">
            <a:avLst/>
          </a:prstGeom>
          <a:noFill/>
          <a:ln w="19050">
            <a:solidFill>
              <a:schemeClr val="accent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659368" y="4914900"/>
            <a:ext cx="256032" cy="0"/>
          </a:xfrm>
          <a:prstGeom prst="line">
            <a:avLst/>
          </a:prstGeom>
          <a:noFill/>
          <a:ln w="19050">
            <a:solidFill>
              <a:schemeClr val="accent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915400" y="4658868"/>
            <a:ext cx="0" cy="256032"/>
          </a:xfrm>
          <a:prstGeom prst="line">
            <a:avLst/>
          </a:prstGeom>
          <a:noFill/>
          <a:ln w="19050">
            <a:solidFill>
              <a:schemeClr val="accent6"/>
            </a:solidFill>
            <a:prstDash val="solid"/>
          </a:ln>
        </p:spPr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chemeClr val="accen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28600" y="228600"/>
            <a:ext cx="256032" cy="0"/>
          </a:xfrm>
          <a:prstGeom prst="line">
            <a:avLst/>
          </a:prstGeom>
          <a:noFill/>
          <a:ln w="19050">
            <a:solidFill>
              <a:schemeClr val="tx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28600" y="228600"/>
            <a:ext cx="0" cy="256032"/>
          </a:xfrm>
          <a:prstGeom prst="line">
            <a:avLst/>
          </a:prstGeom>
          <a:noFill/>
          <a:ln w="19050">
            <a:solidFill>
              <a:schemeClr val="tx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659368" y="228600"/>
            <a:ext cx="256032" cy="0"/>
          </a:xfrm>
          <a:prstGeom prst="line">
            <a:avLst/>
          </a:prstGeom>
          <a:noFill/>
          <a:ln w="19050">
            <a:solidFill>
              <a:schemeClr val="tx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915400" y="228600"/>
            <a:ext cx="0" cy="256032"/>
          </a:xfrm>
          <a:prstGeom prst="line">
            <a:avLst/>
          </a:prstGeom>
          <a:noFill/>
          <a:ln w="19050">
            <a:solidFill>
              <a:schemeClr val="tx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4914900"/>
            <a:ext cx="256032" cy="0"/>
          </a:xfrm>
          <a:prstGeom prst="line">
            <a:avLst/>
          </a:prstGeom>
          <a:noFill/>
          <a:ln w="19050">
            <a:solidFill>
              <a:schemeClr val="tx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28600" y="4658868"/>
            <a:ext cx="0" cy="256032"/>
          </a:xfrm>
          <a:prstGeom prst="line">
            <a:avLst/>
          </a:prstGeom>
          <a:noFill/>
          <a:ln w="19050">
            <a:solidFill>
              <a:schemeClr val="tx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659368" y="4914900"/>
            <a:ext cx="256032" cy="0"/>
          </a:xfrm>
          <a:prstGeom prst="line">
            <a:avLst/>
          </a:prstGeom>
          <a:noFill/>
          <a:ln w="19050">
            <a:solidFill>
              <a:schemeClr val="tx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915400" y="4658868"/>
            <a:ext cx="0" cy="256032"/>
          </a:xfrm>
          <a:prstGeom prst="line">
            <a:avLst/>
          </a:prstGeom>
          <a:noFill/>
          <a:ln w="19050">
            <a:solidFill>
              <a:schemeClr val="tx1"/>
            </a:solidFill>
            <a:prstDash val="solid"/>
          </a:ln>
        </p:spPr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680960" y="4681728"/>
            <a:ext cx="9144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slideLayout" Target="../slideLayouts/slideLayout3.xml"/><Relationship Id="rId9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chemeClr val="accent1"/>
                </a:solidFill>
              </a:rPr>
              <a:t>ZDANMOTION</a:t>
            </a:r>
            <a:endParaRPr lang="en-US" sz="1200" dirty="0"/>
          </a:p>
        </p:txBody>
      </p:sp>
      <p:sp>
        <p:nvSpPr>
          <p:cNvPr id="3" name="Cover title"/>
          <p:cNvSpPr txBox="1"/>
          <p:nvPr/>
        </p:nvSpPr>
        <p:spPr>
          <a:xfrm>
            <a:off x="548640" y="1097280"/>
            <a:ext cx="5120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200" b="1" dirty="0">
                <a:solidFill>
                  <a:schemeClr val="bg1"/>
                </a:solidFill>
              </a:rPr>
              <a:t>Fler hembesök.</a:t>
            </a:r>
            <a:endParaRPr lang="en-US" sz="4200" dirty="0"/>
          </a:p>
          <a:p>
            <a:pPr indent="0" marL="0">
              <a:buNone/>
            </a:pPr>
            <a:r>
              <a:rPr lang="en-US" sz="4200" b="1" dirty="0">
                <a:solidFill>
                  <a:schemeClr val="accent1"/>
                </a:solidFill>
              </a:rPr>
              <a:t>Fler vunna jobb.</a:t>
            </a:r>
            <a:endParaRPr lang="en-US" sz="4200" dirty="0"/>
          </a:p>
        </p:txBody>
      </p:sp>
      <p:sp>
        <p:nvSpPr>
          <p:cNvPr id="4" name="Cover subtitle"/>
          <p:cNvSpPr txBox="1"/>
          <p:nvPr/>
        </p:nvSpPr>
        <p:spPr>
          <a:xfrm>
            <a:off x="548640" y="2514600"/>
            <a:ext cx="4846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Videoannonser med motion graphics för byggföretag. Vi kvalificerar leads och bokar hembesöken direkt i din kalender.</a:t>
            </a:r>
            <a:endParaRPr lang="en-US" sz="1500" dirty="0"/>
          </a:p>
        </p:txBody>
      </p:sp>
      <p:sp>
        <p:nvSpPr>
          <p:cNvPr id="5" name="Chip Motion graphics"/>
          <p:cNvSpPr/>
          <p:nvPr/>
        </p:nvSpPr>
        <p:spPr>
          <a:xfrm>
            <a:off x="548640" y="3520440"/>
            <a:ext cx="1623060" cy="347472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3611880"/>
            <a:ext cx="164592" cy="16459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86968" y="3520440"/>
            <a:ext cx="12390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Motion graphics</a:t>
            </a:r>
            <a:endParaRPr lang="en-US" sz="1100" dirty="0"/>
          </a:p>
        </p:txBody>
      </p:sp>
      <p:sp>
        <p:nvSpPr>
          <p:cNvPr id="8" name="Chip För byggföretag"/>
          <p:cNvSpPr/>
          <p:nvPr/>
        </p:nvSpPr>
        <p:spPr>
          <a:xfrm>
            <a:off x="2308860" y="3520440"/>
            <a:ext cx="1623060" cy="347472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7732" y="3611880"/>
            <a:ext cx="164592" cy="16459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2647188" y="3520440"/>
            <a:ext cx="12390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För byggföretag</a:t>
            </a:r>
            <a:endParaRPr lang="en-US" sz="1100" dirty="0"/>
          </a:p>
        </p:txBody>
      </p:sp>
      <p:sp>
        <p:nvSpPr>
          <p:cNvPr id="11" name="Chip Bokade hembesök"/>
          <p:cNvSpPr/>
          <p:nvPr/>
        </p:nvSpPr>
        <p:spPr>
          <a:xfrm>
            <a:off x="4069080" y="3520440"/>
            <a:ext cx="1623060" cy="347472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87952" y="3611880"/>
            <a:ext cx="164592" cy="164592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4407408" y="3520440"/>
            <a:ext cx="12390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Bokade hembesök</a:t>
            </a:r>
            <a:endParaRPr lang="en-US" sz="1100" dirty="0"/>
          </a:p>
        </p:txBody>
      </p:sp>
      <p:sp>
        <p:nvSpPr>
          <p:cNvPr id="14" name="Timeline"/>
          <p:cNvSpPr/>
          <p:nvPr/>
        </p:nvSpPr>
        <p:spPr>
          <a:xfrm>
            <a:off x="548640" y="4251960"/>
            <a:ext cx="4846320" cy="0"/>
          </a:xfrm>
          <a:prstGeom prst="line">
            <a:avLst/>
          </a:prstGeom>
          <a:noFill/>
          <a:ln w="19050">
            <a:solidFill>
              <a:schemeClr val="accent6"/>
            </a:solidFill>
            <a:prstDash val="solid"/>
          </a:ln>
        </p:spPr>
      </p:sp>
      <p:sp>
        <p:nvSpPr>
          <p:cNvPr id="15" name="Timeline progress"/>
          <p:cNvSpPr/>
          <p:nvPr/>
        </p:nvSpPr>
        <p:spPr>
          <a:xfrm>
            <a:off x="548640" y="4251960"/>
            <a:ext cx="3108960" cy="0"/>
          </a:xfrm>
          <a:prstGeom prst="line">
            <a:avLst/>
          </a:prstGeom>
          <a:noFill/>
          <a:ln w="31750">
            <a:solidFill>
              <a:schemeClr val="accent1"/>
            </a:solidFill>
            <a:prstDash val="solid"/>
          </a:ln>
        </p:spPr>
      </p:sp>
      <p:sp>
        <p:nvSpPr>
          <p:cNvPr id="16" name="Keyframe 1"/>
          <p:cNvSpPr/>
          <p:nvPr/>
        </p:nvSpPr>
        <p:spPr>
          <a:xfrm>
            <a:off x="548640" y="4178808"/>
            <a:ext cx="146304" cy="146304"/>
          </a:xfrm>
          <a:prstGeom prst="diamond">
            <a:avLst/>
          </a:prstGeom>
          <a:solidFill>
            <a:schemeClr val="accent1"/>
          </a:solidFill>
          <a:ln/>
        </p:spPr>
      </p:sp>
      <p:sp>
        <p:nvSpPr>
          <p:cNvPr id="17" name="Keyframe 2"/>
          <p:cNvSpPr/>
          <p:nvPr/>
        </p:nvSpPr>
        <p:spPr>
          <a:xfrm>
            <a:off x="1481328" y="4178808"/>
            <a:ext cx="146304" cy="146304"/>
          </a:xfrm>
          <a:prstGeom prst="diamond">
            <a:avLst/>
          </a:prstGeom>
          <a:solidFill>
            <a:schemeClr val="accent1"/>
          </a:solidFill>
          <a:ln/>
        </p:spPr>
      </p:sp>
      <p:sp>
        <p:nvSpPr>
          <p:cNvPr id="18" name="Keyframe 3"/>
          <p:cNvSpPr/>
          <p:nvPr/>
        </p:nvSpPr>
        <p:spPr>
          <a:xfrm>
            <a:off x="2578608" y="4178808"/>
            <a:ext cx="146304" cy="146304"/>
          </a:xfrm>
          <a:prstGeom prst="diamond">
            <a:avLst/>
          </a:prstGeom>
          <a:solidFill>
            <a:schemeClr val="accent1"/>
          </a:solidFill>
          <a:ln/>
        </p:spPr>
      </p:sp>
      <p:sp>
        <p:nvSpPr>
          <p:cNvPr id="19" name="Keyframe 4"/>
          <p:cNvSpPr/>
          <p:nvPr/>
        </p:nvSpPr>
        <p:spPr>
          <a:xfrm>
            <a:off x="3584448" y="4178808"/>
            <a:ext cx="146304" cy="146304"/>
          </a:xfrm>
          <a:prstGeom prst="diamond">
            <a:avLst/>
          </a:prstGeom>
          <a:solidFill>
            <a:schemeClr val="accent1"/>
          </a:solidFill>
          <a:ln/>
        </p:spPr>
      </p:sp>
      <p:sp>
        <p:nvSpPr>
          <p:cNvPr id="20" name="Keyframe 5"/>
          <p:cNvSpPr/>
          <p:nvPr/>
        </p:nvSpPr>
        <p:spPr>
          <a:xfrm>
            <a:off x="4636008" y="4178808"/>
            <a:ext cx="146304" cy="146304"/>
          </a:xfrm>
          <a:prstGeom prst="diamond">
            <a:avLst/>
          </a:prstGeom>
          <a:solidFill>
            <a:schemeClr val="accent6"/>
          </a:solidFill>
          <a:ln/>
        </p:spPr>
      </p:sp>
      <p:sp>
        <p:nvSpPr>
          <p:cNvPr id="21" name="Text 16"/>
          <p:cNvSpPr txBox="1"/>
          <p:nvPr/>
        </p:nvSpPr>
        <p:spPr>
          <a:xfrm>
            <a:off x="548640" y="4370832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3"/>
                </a:solidFill>
              </a:rPr>
              <a:t>Annons</a:t>
            </a:r>
            <a:endParaRPr lang="en-US" sz="900" dirty="0"/>
          </a:p>
        </p:txBody>
      </p:sp>
      <p:sp>
        <p:nvSpPr>
          <p:cNvPr id="22" name="Text 17"/>
          <p:cNvSpPr txBox="1"/>
          <p:nvPr/>
        </p:nvSpPr>
        <p:spPr>
          <a:xfrm>
            <a:off x="4480560" y="4370832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chemeClr val="accent3"/>
                </a:solidFill>
              </a:rPr>
              <a:t>Hembesök</a:t>
            </a:r>
            <a:endParaRPr lang="en-US" sz="900" dirty="0"/>
          </a:p>
        </p:txBody>
      </p:sp>
      <p:sp>
        <p:nvSpPr>
          <p:cNvPr id="23" name="Glow"/>
          <p:cNvSpPr/>
          <p:nvPr/>
        </p:nvSpPr>
        <p:spPr>
          <a:xfrm>
            <a:off x="5806440" y="685800"/>
            <a:ext cx="3017520" cy="3017520"/>
          </a:xfrm>
          <a:prstGeom prst="ellipse">
            <a:avLst/>
          </a:prstGeom>
          <a:solidFill>
            <a:schemeClr val="accent1">
              <a:alpha val="15000"/>
            </a:schemeClr>
          </a:solidFill>
          <a:ln/>
        </p:spPr>
      </p:sp>
      <p:pic>
        <p:nvPicPr>
          <p:cNvPr id="24" name="Video ad mockup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411480"/>
            <a:ext cx="2121408" cy="431596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9"/>
          <p:cNvSpPr/>
          <p:nvPr>
            <p:ph idx="109" type="body" hasCustomPrompt="1"/>
          </p:nvPr>
        </p:nvSpPr>
        <p:spPr>
          <a:xfrm>
            <a:off x="548640" y="384048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chemeClr val="accent1"/>
                </a:solidFill>
              </a:rPr>
              <a:t>DAGENS AGENDA</a:t>
            </a:r>
            <a:endParaRPr lang="en-US" sz="1100" dirty="0"/>
          </a:p>
        </p:txBody>
      </p:sp>
      <p:sp>
        <p:nvSpPr>
          <p:cNvPr id="3" name="Text 9"/>
          <p:cNvSpPr/>
          <p:nvPr>
            <p:ph idx="110" type="title" hasCustomPrompt="1"/>
          </p:nvPr>
        </p:nvSpPr>
        <p:spPr>
          <a:xfrm>
            <a:off x="548640" y="658368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Det här går vi igenom idag</a:t>
            </a:r>
            <a:endParaRPr lang="en-US" sz="3000" dirty="0"/>
          </a:p>
        </p:txBody>
      </p:sp>
      <p:sp>
        <p:nvSpPr>
          <p:cNvPr id="4" name="REC dot"/>
          <p:cNvSpPr/>
          <p:nvPr/>
        </p:nvSpPr>
        <p:spPr>
          <a:xfrm>
            <a:off x="7360920" y="429768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Timecode"/>
          <p:cNvSpPr txBox="1"/>
          <p:nvPr/>
        </p:nvSpPr>
        <p:spPr>
          <a:xfrm>
            <a:off x="7543800" y="365760"/>
            <a:ext cx="10515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chemeClr val="accent3"/>
                </a:solidFill>
              </a:rPr>
              <a:t>REC  00:00:02:00</a:t>
            </a:r>
            <a:endParaRPr lang="en-US" sz="900" dirty="0"/>
          </a:p>
        </p:txBody>
      </p:sp>
      <p:sp>
        <p:nvSpPr>
          <p:cNvPr id="6" name="Agenda 1"/>
          <p:cNvSpPr/>
          <p:nvPr/>
        </p:nvSpPr>
        <p:spPr>
          <a:xfrm>
            <a:off x="548640" y="1600200"/>
            <a:ext cx="4846320" cy="594360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12700">
            <a:solidFill>
              <a:schemeClr val="accent5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713232" y="1600200"/>
            <a:ext cx="411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01</a:t>
            </a:r>
            <a:endParaRPr lang="en-US" sz="1800" dirty="0"/>
          </a:p>
        </p:txBody>
      </p:sp>
      <p:sp>
        <p:nvSpPr>
          <p:cNvPr id="8" name="Agenda icon 1 circle"/>
          <p:cNvSpPr/>
          <p:nvPr/>
        </p:nvSpPr>
        <p:spPr>
          <a:xfrm>
            <a:off x="1143000" y="1700784"/>
            <a:ext cx="393192" cy="393192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9" name="Agenda icon 1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41298" y="1799082"/>
            <a:ext cx="196596" cy="196596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1691640" y="1600200"/>
            <a:ext cx="3611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Så fungerar systemet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Videoannonser via Meta till husägare i ert område.</a:t>
            </a:r>
            <a:endParaRPr lang="en-US" sz="1500" dirty="0"/>
          </a:p>
        </p:txBody>
      </p:sp>
      <p:sp>
        <p:nvSpPr>
          <p:cNvPr id="11" name="Agenda 2"/>
          <p:cNvSpPr/>
          <p:nvPr/>
        </p:nvSpPr>
        <p:spPr>
          <a:xfrm>
            <a:off x="548640" y="2331720"/>
            <a:ext cx="4846320" cy="594360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12700">
            <a:solidFill>
              <a:schemeClr val="accent5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713232" y="2331720"/>
            <a:ext cx="411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02</a:t>
            </a:r>
            <a:endParaRPr lang="en-US" sz="1800" dirty="0"/>
          </a:p>
        </p:txBody>
      </p:sp>
      <p:sp>
        <p:nvSpPr>
          <p:cNvPr id="13" name="Agenda icon 2 circle"/>
          <p:cNvSpPr/>
          <p:nvPr/>
        </p:nvSpPr>
        <p:spPr>
          <a:xfrm>
            <a:off x="1143000" y="2432304"/>
            <a:ext cx="393192" cy="393192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14" name="Agenda icon 2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1298" y="2530602"/>
            <a:ext cx="196596" cy="196596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1691640" y="2331720"/>
            <a:ext cx="3611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Kvalificering och bokning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Hur vi bokar hembesök direkt i din kalender.</a:t>
            </a:r>
            <a:endParaRPr lang="en-US" sz="1500" dirty="0"/>
          </a:p>
        </p:txBody>
      </p:sp>
      <p:sp>
        <p:nvSpPr>
          <p:cNvPr id="16" name="Agenda 3"/>
          <p:cNvSpPr/>
          <p:nvPr/>
        </p:nvSpPr>
        <p:spPr>
          <a:xfrm>
            <a:off x="548640" y="3063240"/>
            <a:ext cx="4846320" cy="594360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12700">
            <a:solidFill>
              <a:schemeClr val="accent5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7" name="Text 13"/>
          <p:cNvSpPr txBox="1"/>
          <p:nvPr/>
        </p:nvSpPr>
        <p:spPr>
          <a:xfrm>
            <a:off x="713232" y="3063240"/>
            <a:ext cx="411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03</a:t>
            </a:r>
            <a:endParaRPr lang="en-US" sz="1800" dirty="0"/>
          </a:p>
        </p:txBody>
      </p:sp>
      <p:sp>
        <p:nvSpPr>
          <p:cNvPr id="18" name="Agenda icon 3 circle"/>
          <p:cNvSpPr/>
          <p:nvPr/>
        </p:nvSpPr>
        <p:spPr>
          <a:xfrm>
            <a:off x="1143000" y="3163824"/>
            <a:ext cx="393192" cy="393192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19" name="Agenda icon 3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41298" y="3262122"/>
            <a:ext cx="196596" cy="196596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1691640" y="3063240"/>
            <a:ext cx="3611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Appen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Hembesök, notiser och leads på ett ställe.</a:t>
            </a:r>
            <a:endParaRPr lang="en-US" sz="1500" dirty="0"/>
          </a:p>
        </p:txBody>
      </p:sp>
      <p:sp>
        <p:nvSpPr>
          <p:cNvPr id="21" name="Agenda 4"/>
          <p:cNvSpPr/>
          <p:nvPr/>
        </p:nvSpPr>
        <p:spPr>
          <a:xfrm>
            <a:off x="548640" y="3794760"/>
            <a:ext cx="4846320" cy="594360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12700">
            <a:solidFill>
              <a:schemeClr val="accent5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22" name="Text 17"/>
          <p:cNvSpPr txBox="1"/>
          <p:nvPr/>
        </p:nvSpPr>
        <p:spPr>
          <a:xfrm>
            <a:off x="713232" y="3794760"/>
            <a:ext cx="411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04</a:t>
            </a:r>
            <a:endParaRPr lang="en-US" sz="1800" dirty="0"/>
          </a:p>
        </p:txBody>
      </p:sp>
      <p:sp>
        <p:nvSpPr>
          <p:cNvPr id="23" name="Agenda icon 4 circle"/>
          <p:cNvSpPr/>
          <p:nvPr/>
        </p:nvSpPr>
        <p:spPr>
          <a:xfrm>
            <a:off x="1143000" y="3895344"/>
            <a:ext cx="393192" cy="393192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24" name="Agenda icon 4 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41298" y="3993642"/>
            <a:ext cx="196596" cy="196596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1691640" y="3794760"/>
            <a:ext cx="3611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Investering och nästa steg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Vi bestämmer tillsammans om vi kör.</a:t>
            </a:r>
            <a:endParaRPr lang="en-US" sz="1500" dirty="0"/>
          </a:p>
        </p:txBody>
      </p:sp>
      <p:sp>
        <p:nvSpPr>
          <p:cNvPr id="26" name="Goal card"/>
          <p:cNvSpPr/>
          <p:nvPr/>
        </p:nvSpPr>
        <p:spPr>
          <a:xfrm>
            <a:off x="5760720" y="1600200"/>
            <a:ext cx="2834640" cy="2788920"/>
          </a:xfrm>
          <a:prstGeom prst="roundRect">
            <a:avLst>
              <a:gd name="adj" fmla="val 3934"/>
            </a:avLst>
          </a:prstGeom>
          <a:solidFill>
            <a:schemeClr val="tx1"/>
          </a:solidFill>
          <a:ln/>
        </p:spPr>
      </p:sp>
      <p:sp>
        <p:nvSpPr>
          <p:cNvPr id="27" name="Text 21"/>
          <p:cNvSpPr txBox="1"/>
          <p:nvPr/>
        </p:nvSpPr>
        <p:spPr>
          <a:xfrm>
            <a:off x="5989320" y="1783080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chemeClr val="accent1"/>
                </a:solidFill>
              </a:rPr>
              <a:t>MÅLET</a:t>
            </a:r>
            <a:endParaRPr lang="en-US" sz="1000" dirty="0"/>
          </a:p>
        </p:txBody>
      </p:sp>
      <p:pic>
        <p:nvPicPr>
          <p:cNvPr id="2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89320" y="2258568"/>
            <a:ext cx="256032" cy="256032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6382512" y="2194560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Fler hembesök varje månad</a:t>
            </a:r>
            <a:endParaRPr lang="en-US" sz="1400" dirty="0"/>
          </a:p>
        </p:txBody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89320" y="2807208"/>
            <a:ext cx="256032" cy="256032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6382512" y="2743200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Trygghet att planera framåt</a:t>
            </a:r>
            <a:endParaRPr lang="en-US" sz="1400" dirty="0"/>
          </a:p>
        </p:txBody>
      </p:sp>
      <p:pic>
        <p:nvPicPr>
          <p:cNvPr id="32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89320" y="3355848"/>
            <a:ext cx="256032" cy="256032"/>
          </a:xfrm>
          <a:prstGeom prst="rect">
            <a:avLst/>
          </a:prstGeom>
        </p:spPr>
      </p:pic>
      <p:sp>
        <p:nvSpPr>
          <p:cNvPr id="33" name="Text 24"/>
          <p:cNvSpPr txBox="1"/>
          <p:nvPr/>
        </p:nvSpPr>
        <p:spPr>
          <a:xfrm>
            <a:off x="6382512" y="3291840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Slippa jaga jobb och leads</a:t>
            </a:r>
            <a:endParaRPr lang="en-US" sz="1400" dirty="0"/>
          </a:p>
        </p:txBody>
      </p:sp>
      <p:sp>
        <p:nvSpPr>
          <p:cNvPr id="34" name="Text 25"/>
          <p:cNvSpPr txBox="1"/>
          <p:nvPr/>
        </p:nvSpPr>
        <p:spPr>
          <a:xfrm>
            <a:off x="5989320" y="384048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4"/>
                </a:solidFill>
              </a:rPr>
              <a:t>Känns det inte rätt är det helt okej – känns det rätt kör vi igång direkt.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680960" y="4681728"/>
            <a:ext cx="9144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9"/>
          <p:cNvSpPr/>
          <p:nvPr>
            <p:ph idx="109" type="body" hasCustomPrompt="1"/>
          </p:nvPr>
        </p:nvSpPr>
        <p:spPr>
          <a:xfrm>
            <a:off x="548640" y="384048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chemeClr val="accent1"/>
                </a:solidFill>
              </a:rPr>
              <a:t>SÅ FUNGERAR DET</a:t>
            </a:r>
            <a:endParaRPr lang="en-US" sz="1100" dirty="0"/>
          </a:p>
        </p:txBody>
      </p:sp>
      <p:sp>
        <p:nvSpPr>
          <p:cNvPr id="3" name="Text 9"/>
          <p:cNvSpPr/>
          <p:nvPr>
            <p:ph idx="110" type="title" hasCustomPrompt="1"/>
          </p:nvPr>
        </p:nvSpPr>
        <p:spPr>
          <a:xfrm>
            <a:off x="548640" y="658368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Från videoannons till bokat hembesök</a:t>
            </a:r>
            <a:endParaRPr lang="en-US" sz="3000" dirty="0"/>
          </a:p>
        </p:txBody>
      </p:sp>
      <p:sp>
        <p:nvSpPr>
          <p:cNvPr id="4" name="REC dot"/>
          <p:cNvSpPr/>
          <p:nvPr/>
        </p:nvSpPr>
        <p:spPr>
          <a:xfrm>
            <a:off x="7360920" y="429768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Timecode"/>
          <p:cNvSpPr txBox="1"/>
          <p:nvPr/>
        </p:nvSpPr>
        <p:spPr>
          <a:xfrm>
            <a:off x="7543800" y="365760"/>
            <a:ext cx="10515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chemeClr val="accent3"/>
                </a:solidFill>
              </a:rPr>
              <a:t>REC  00:00:03:00</a:t>
            </a:r>
            <a:endParaRPr lang="en-US" sz="900" dirty="0"/>
          </a:p>
        </p:txBody>
      </p:sp>
      <p:sp>
        <p:nvSpPr>
          <p:cNvPr id="6" name="Editor panel"/>
          <p:cNvSpPr/>
          <p:nvPr/>
        </p:nvSpPr>
        <p:spPr>
          <a:xfrm>
            <a:off x="548640" y="1554480"/>
            <a:ext cx="8046720" cy="2697480"/>
          </a:xfrm>
          <a:prstGeom prst="roundRect">
            <a:avLst>
              <a:gd name="adj" fmla="val 3390"/>
            </a:avLst>
          </a:prstGeom>
          <a:solidFill>
            <a:schemeClr val="tx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77240" y="1700784"/>
            <a:ext cx="0" cy="109728"/>
          </a:xfrm>
          <a:prstGeom prst="line">
            <a:avLst/>
          </a:prstGeom>
          <a:noFill/>
          <a:ln w="12700">
            <a:solidFill>
              <a:schemeClr val="accent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234440" y="1700784"/>
            <a:ext cx="0" cy="54864"/>
          </a:xfrm>
          <a:prstGeom prst="line">
            <a:avLst/>
          </a:prstGeom>
          <a:noFill/>
          <a:ln w="12700">
            <a:solidFill>
              <a:schemeClr val="accent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691640" y="1700784"/>
            <a:ext cx="0" cy="109728"/>
          </a:xfrm>
          <a:prstGeom prst="line">
            <a:avLst/>
          </a:prstGeom>
          <a:noFill/>
          <a:ln w="12700">
            <a:solidFill>
              <a:schemeClr val="accent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148840" y="1700784"/>
            <a:ext cx="0" cy="54864"/>
          </a:xfrm>
          <a:prstGeom prst="line">
            <a:avLst/>
          </a:prstGeom>
          <a:noFill/>
          <a:ln w="12700">
            <a:solidFill>
              <a:schemeClr val="accent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606040" y="1700784"/>
            <a:ext cx="0" cy="109728"/>
          </a:xfrm>
          <a:prstGeom prst="line">
            <a:avLst/>
          </a:prstGeom>
          <a:noFill/>
          <a:ln w="12700">
            <a:solidFill>
              <a:schemeClr val="accent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063240" y="1700784"/>
            <a:ext cx="0" cy="54864"/>
          </a:xfrm>
          <a:prstGeom prst="line">
            <a:avLst/>
          </a:prstGeom>
          <a:noFill/>
          <a:ln w="12700">
            <a:solidFill>
              <a:schemeClr val="accent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520440" y="1700784"/>
            <a:ext cx="0" cy="109728"/>
          </a:xfrm>
          <a:prstGeom prst="line">
            <a:avLst/>
          </a:prstGeom>
          <a:noFill/>
          <a:ln w="12700">
            <a:solidFill>
              <a:schemeClr val="accent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977640" y="1700784"/>
            <a:ext cx="0" cy="54864"/>
          </a:xfrm>
          <a:prstGeom prst="line">
            <a:avLst/>
          </a:prstGeom>
          <a:noFill/>
          <a:ln w="12700">
            <a:solidFill>
              <a:schemeClr val="accent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434840" y="1700784"/>
            <a:ext cx="0" cy="109728"/>
          </a:xfrm>
          <a:prstGeom prst="line">
            <a:avLst/>
          </a:prstGeom>
          <a:noFill/>
          <a:ln w="12700">
            <a:solidFill>
              <a:schemeClr val="accent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892040" y="1700784"/>
            <a:ext cx="0" cy="54864"/>
          </a:xfrm>
          <a:prstGeom prst="line">
            <a:avLst/>
          </a:prstGeom>
          <a:noFill/>
          <a:ln w="12700">
            <a:solidFill>
              <a:schemeClr val="accent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349240" y="1700784"/>
            <a:ext cx="0" cy="109728"/>
          </a:xfrm>
          <a:prstGeom prst="line">
            <a:avLst/>
          </a:prstGeom>
          <a:noFill/>
          <a:ln w="12700">
            <a:solidFill>
              <a:schemeClr val="accent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806440" y="1700784"/>
            <a:ext cx="0" cy="54864"/>
          </a:xfrm>
          <a:prstGeom prst="line">
            <a:avLst/>
          </a:prstGeom>
          <a:noFill/>
          <a:ln w="12700">
            <a:solidFill>
              <a:schemeClr val="accent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263640" y="1700784"/>
            <a:ext cx="0" cy="109728"/>
          </a:xfrm>
          <a:prstGeom prst="line">
            <a:avLst/>
          </a:prstGeom>
          <a:noFill/>
          <a:ln w="12700">
            <a:solidFill>
              <a:schemeClr val="accent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720840" y="1700784"/>
            <a:ext cx="0" cy="54864"/>
          </a:xfrm>
          <a:prstGeom prst="line">
            <a:avLst/>
          </a:prstGeom>
          <a:noFill/>
          <a:ln w="12700">
            <a:solidFill>
              <a:schemeClr val="accent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178040" y="1700784"/>
            <a:ext cx="0" cy="109728"/>
          </a:xfrm>
          <a:prstGeom prst="line">
            <a:avLst/>
          </a:prstGeom>
          <a:noFill/>
          <a:ln w="12700">
            <a:solidFill>
              <a:schemeClr val="accent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635240" y="1700784"/>
            <a:ext cx="0" cy="54864"/>
          </a:xfrm>
          <a:prstGeom prst="line">
            <a:avLst/>
          </a:prstGeom>
          <a:noFill/>
          <a:ln w="12700">
            <a:solidFill>
              <a:schemeClr val="accent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092440" y="1700784"/>
            <a:ext cx="0" cy="109728"/>
          </a:xfrm>
          <a:prstGeom prst="line">
            <a:avLst/>
          </a:prstGeom>
          <a:noFill/>
          <a:ln w="12700">
            <a:solidFill>
              <a:schemeClr val="accent6"/>
            </a:solidFill>
            <a:prstDash val="solid"/>
          </a:ln>
        </p:spPr>
      </p:sp>
      <p:sp>
        <p:nvSpPr>
          <p:cNvPr id="24" name="Clip 1"/>
          <p:cNvSpPr/>
          <p:nvPr/>
        </p:nvSpPr>
        <p:spPr>
          <a:xfrm>
            <a:off x="777240" y="1965960"/>
            <a:ext cx="1828800" cy="566928"/>
          </a:xfrm>
          <a:prstGeom prst="roundRect">
            <a:avLst>
              <a:gd name="adj" fmla="val 12903"/>
            </a:avLst>
          </a:prstGeom>
          <a:solidFill>
            <a:schemeClr val="accent2"/>
          </a:solidFill>
          <a:ln/>
        </p:spPr>
      </p:sp>
      <p:pic>
        <p:nvPicPr>
          <p:cNvPr id="2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2130552"/>
            <a:ext cx="237744" cy="237744"/>
          </a:xfrm>
          <a:prstGeom prst="rect">
            <a:avLst/>
          </a:prstGeom>
        </p:spPr>
      </p:pic>
      <p:sp>
        <p:nvSpPr>
          <p:cNvPr id="26" name="Text 23"/>
          <p:cNvSpPr txBox="1"/>
          <p:nvPr/>
        </p:nvSpPr>
        <p:spPr>
          <a:xfrm>
            <a:off x="1234440" y="1965960"/>
            <a:ext cx="1325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4"/>
                </a:solidFill>
              </a:rPr>
              <a:t>01</a:t>
            </a:r>
            <a:endParaRPr lang="en-US" sz="9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Videoannons</a:t>
            </a:r>
            <a:endParaRPr lang="en-US" sz="900" dirty="0"/>
          </a:p>
        </p:txBody>
      </p:sp>
      <p:sp>
        <p:nvSpPr>
          <p:cNvPr id="27" name="Keyframe 1"/>
          <p:cNvSpPr/>
          <p:nvPr/>
        </p:nvSpPr>
        <p:spPr>
          <a:xfrm>
            <a:off x="1618488" y="2670048"/>
            <a:ext cx="146304" cy="146304"/>
          </a:xfrm>
          <a:prstGeom prst="diamond">
            <a:avLst/>
          </a:prstGeom>
          <a:solidFill>
            <a:schemeClr val="accent6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777240" y="2971800"/>
            <a:ext cx="18288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Motion graphics av era bilder och filmer från färdiga jobb – eller med AI.</a:t>
            </a:r>
            <a:endParaRPr lang="en-US" sz="1400" dirty="0"/>
          </a:p>
        </p:txBody>
      </p:sp>
      <p:sp>
        <p:nvSpPr>
          <p:cNvPr id="29" name="Clip 2"/>
          <p:cNvSpPr/>
          <p:nvPr/>
        </p:nvSpPr>
        <p:spPr>
          <a:xfrm>
            <a:off x="2697480" y="1965960"/>
            <a:ext cx="1828800" cy="566928"/>
          </a:xfrm>
          <a:prstGeom prst="roundRect">
            <a:avLst>
              <a:gd name="adj" fmla="val 12903"/>
            </a:avLst>
          </a:prstGeom>
          <a:solidFill>
            <a:schemeClr val="accent2"/>
          </a:solidFill>
          <a:ln/>
        </p:spPr>
      </p:sp>
      <p:pic>
        <p:nvPicPr>
          <p:cNvPr id="3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2130552"/>
            <a:ext cx="237744" cy="237744"/>
          </a:xfrm>
          <a:prstGeom prst="rect">
            <a:avLst/>
          </a:prstGeom>
        </p:spPr>
      </p:pic>
      <p:sp>
        <p:nvSpPr>
          <p:cNvPr id="31" name="Text 27"/>
          <p:cNvSpPr txBox="1"/>
          <p:nvPr/>
        </p:nvSpPr>
        <p:spPr>
          <a:xfrm>
            <a:off x="3154680" y="1965960"/>
            <a:ext cx="1325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4"/>
                </a:solidFill>
              </a:rPr>
              <a:t>02</a:t>
            </a:r>
            <a:endParaRPr lang="en-US" sz="9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Rätt målgrupp</a:t>
            </a:r>
            <a:endParaRPr lang="en-US" sz="900" dirty="0"/>
          </a:p>
        </p:txBody>
      </p:sp>
      <p:sp>
        <p:nvSpPr>
          <p:cNvPr id="32" name="Keyframe 2"/>
          <p:cNvSpPr/>
          <p:nvPr/>
        </p:nvSpPr>
        <p:spPr>
          <a:xfrm>
            <a:off x="3538728" y="2670048"/>
            <a:ext cx="146304" cy="146304"/>
          </a:xfrm>
          <a:prstGeom prst="diamond">
            <a:avLst/>
          </a:prstGeom>
          <a:solidFill>
            <a:schemeClr val="accent6"/>
          </a:solidFill>
          <a:ln/>
        </p:spPr>
      </p:sp>
      <p:sp>
        <p:nvSpPr>
          <p:cNvPr id="33" name="Text 29"/>
          <p:cNvSpPr txBox="1"/>
          <p:nvPr/>
        </p:nvSpPr>
        <p:spPr>
          <a:xfrm>
            <a:off x="2697480" y="2971800"/>
            <a:ext cx="18288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Betald annonsering via Meta till husägare i ert område, 300 kr/dag.</a:t>
            </a:r>
            <a:endParaRPr lang="en-US" sz="1400" dirty="0"/>
          </a:p>
        </p:txBody>
      </p:sp>
      <p:sp>
        <p:nvSpPr>
          <p:cNvPr id="34" name="Clip 3"/>
          <p:cNvSpPr/>
          <p:nvPr/>
        </p:nvSpPr>
        <p:spPr>
          <a:xfrm>
            <a:off x="4617720" y="1965960"/>
            <a:ext cx="1828800" cy="566928"/>
          </a:xfrm>
          <a:prstGeom prst="roundRect">
            <a:avLst>
              <a:gd name="adj" fmla="val 12903"/>
            </a:avLst>
          </a:prstGeom>
          <a:solidFill>
            <a:schemeClr val="accent1"/>
          </a:solidFill>
          <a:ln/>
        </p:spPr>
      </p:sp>
      <p:pic>
        <p:nvPicPr>
          <p:cNvPr id="3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0" y="2130552"/>
            <a:ext cx="237744" cy="237744"/>
          </a:xfrm>
          <a:prstGeom prst="rect">
            <a:avLst/>
          </a:prstGeom>
        </p:spPr>
      </p:pic>
      <p:sp>
        <p:nvSpPr>
          <p:cNvPr id="36" name="Text 31"/>
          <p:cNvSpPr txBox="1"/>
          <p:nvPr/>
        </p:nvSpPr>
        <p:spPr>
          <a:xfrm>
            <a:off x="5074920" y="1965960"/>
            <a:ext cx="1325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03</a:t>
            </a:r>
            <a:endParaRPr lang="en-US" sz="9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Vi kvalificerar</a:t>
            </a:r>
            <a:endParaRPr lang="en-US" sz="900" dirty="0"/>
          </a:p>
        </p:txBody>
      </p:sp>
      <p:sp>
        <p:nvSpPr>
          <p:cNvPr id="37" name="Keyframe 3"/>
          <p:cNvSpPr/>
          <p:nvPr/>
        </p:nvSpPr>
        <p:spPr>
          <a:xfrm>
            <a:off x="5458968" y="2670048"/>
            <a:ext cx="146304" cy="146304"/>
          </a:xfrm>
          <a:prstGeom prst="diamond">
            <a:avLst/>
          </a:prstGeom>
          <a:solidFill>
            <a:schemeClr val="accent1"/>
          </a:solidFill>
          <a:ln/>
        </p:spPr>
      </p:sp>
      <p:sp>
        <p:nvSpPr>
          <p:cNvPr id="38" name="Text 33"/>
          <p:cNvSpPr txBox="1"/>
          <p:nvPr/>
        </p:nvSpPr>
        <p:spPr>
          <a:xfrm>
            <a:off x="4617720" y="2971800"/>
            <a:ext cx="18288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Formulär och SMS: projekt, budget och tidsplan. Prisjägarna sållas bort.</a:t>
            </a:r>
            <a:endParaRPr lang="en-US" sz="1400" dirty="0"/>
          </a:p>
        </p:txBody>
      </p:sp>
      <p:sp>
        <p:nvSpPr>
          <p:cNvPr id="39" name="Clip 4"/>
          <p:cNvSpPr/>
          <p:nvPr/>
        </p:nvSpPr>
        <p:spPr>
          <a:xfrm>
            <a:off x="6537960" y="1965960"/>
            <a:ext cx="1828800" cy="566928"/>
          </a:xfrm>
          <a:prstGeom prst="roundRect">
            <a:avLst>
              <a:gd name="adj" fmla="val 12903"/>
            </a:avLst>
          </a:prstGeom>
          <a:solidFill>
            <a:schemeClr val="accent1"/>
          </a:solidFill>
          <a:ln/>
        </p:spPr>
      </p:sp>
      <p:pic>
        <p:nvPicPr>
          <p:cNvPr id="4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75120" y="2130552"/>
            <a:ext cx="237744" cy="237744"/>
          </a:xfrm>
          <a:prstGeom prst="rect">
            <a:avLst/>
          </a:prstGeom>
        </p:spPr>
      </p:pic>
      <p:sp>
        <p:nvSpPr>
          <p:cNvPr id="41" name="Text 35"/>
          <p:cNvSpPr txBox="1"/>
          <p:nvPr/>
        </p:nvSpPr>
        <p:spPr>
          <a:xfrm>
            <a:off x="6995160" y="1965960"/>
            <a:ext cx="1325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04</a:t>
            </a:r>
            <a:endParaRPr lang="en-US" sz="9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I din kalender</a:t>
            </a:r>
            <a:endParaRPr lang="en-US" sz="900" dirty="0"/>
          </a:p>
        </p:txBody>
      </p:sp>
      <p:sp>
        <p:nvSpPr>
          <p:cNvPr id="42" name="Keyframe 4"/>
          <p:cNvSpPr/>
          <p:nvPr/>
        </p:nvSpPr>
        <p:spPr>
          <a:xfrm>
            <a:off x="7379208" y="2670048"/>
            <a:ext cx="146304" cy="146304"/>
          </a:xfrm>
          <a:prstGeom prst="diamond">
            <a:avLst/>
          </a:prstGeom>
          <a:solidFill>
            <a:schemeClr val="accent1"/>
          </a:solidFill>
          <a:ln/>
        </p:spPr>
      </p:sp>
      <p:sp>
        <p:nvSpPr>
          <p:cNvPr id="43" name="Text 37"/>
          <p:cNvSpPr txBox="1"/>
          <p:nvPr/>
        </p:nvSpPr>
        <p:spPr>
          <a:xfrm>
            <a:off x="6537960" y="2971800"/>
            <a:ext cx="18288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Kunden bokas direkt in i er kalender. Ni åker ut och ger offert.</a:t>
            </a:r>
            <a:endParaRPr lang="en-US" sz="1400" dirty="0"/>
          </a:p>
        </p:txBody>
      </p:sp>
      <p:sp>
        <p:nvSpPr>
          <p:cNvPr id="44" name="Keyframe track"/>
          <p:cNvSpPr/>
          <p:nvPr/>
        </p:nvSpPr>
        <p:spPr>
          <a:xfrm>
            <a:off x="777240" y="2743200"/>
            <a:ext cx="7498080" cy="0"/>
          </a:xfrm>
          <a:prstGeom prst="line">
            <a:avLst/>
          </a:prstGeom>
          <a:noFill/>
          <a:ln w="12700">
            <a:solidFill>
              <a:schemeClr val="accent6"/>
            </a:solidFill>
            <a:prstDash val="solid"/>
          </a:ln>
        </p:spPr>
      </p:sp>
      <p:sp>
        <p:nvSpPr>
          <p:cNvPr id="45" name="Playhead"/>
          <p:cNvSpPr/>
          <p:nvPr/>
        </p:nvSpPr>
        <p:spPr>
          <a:xfrm>
            <a:off x="4572000" y="1645920"/>
            <a:ext cx="0" cy="1188720"/>
          </a:xfrm>
          <a:prstGeom prst="line">
            <a:avLst/>
          </a:prstGeom>
          <a:noFill/>
          <a:ln w="19050">
            <a:solidFill>
              <a:schemeClr val="bg1"/>
            </a:solidFill>
            <a:prstDash val="solid"/>
          </a:ln>
        </p:spPr>
      </p:sp>
      <p:sp>
        <p:nvSpPr>
          <p:cNvPr id="46" name="Playhead head"/>
          <p:cNvSpPr/>
          <p:nvPr/>
        </p:nvSpPr>
        <p:spPr>
          <a:xfrm rot="10800000">
            <a:off x="4480560" y="1609344"/>
            <a:ext cx="182880" cy="128016"/>
          </a:xfrm>
          <a:prstGeom prst="triangle">
            <a:avLst/>
          </a:prstGeom>
          <a:solidFill>
            <a:schemeClr val="bg1"/>
          </a:solidFill>
          <a:ln/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680960" y="4681728"/>
            <a:ext cx="9144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9"/>
          <p:cNvSpPr/>
          <p:nvPr>
            <p:ph idx="109" type="body" hasCustomPrompt="1"/>
          </p:nvPr>
        </p:nvSpPr>
        <p:spPr>
          <a:xfrm>
            <a:off x="548640" y="384048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chemeClr val="accent1"/>
                </a:solidFill>
              </a:rPr>
              <a:t>KVALIFICERING &amp; BOKNING</a:t>
            </a:r>
            <a:endParaRPr lang="en-US" sz="1100" dirty="0"/>
          </a:p>
        </p:txBody>
      </p:sp>
      <p:sp>
        <p:nvSpPr>
          <p:cNvPr id="3" name="Text 9"/>
          <p:cNvSpPr/>
          <p:nvPr>
            <p:ph idx="110" type="title" hasCustomPrompt="1"/>
          </p:nvPr>
        </p:nvSpPr>
        <p:spPr>
          <a:xfrm>
            <a:off x="548640" y="658368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Kvalificerade leads – direkt i din kalender</a:t>
            </a:r>
            <a:endParaRPr lang="en-US" sz="3000" dirty="0"/>
          </a:p>
        </p:txBody>
      </p:sp>
      <p:sp>
        <p:nvSpPr>
          <p:cNvPr id="4" name="REC dot"/>
          <p:cNvSpPr/>
          <p:nvPr/>
        </p:nvSpPr>
        <p:spPr>
          <a:xfrm>
            <a:off x="7360920" y="429768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Timecode"/>
          <p:cNvSpPr txBox="1"/>
          <p:nvPr/>
        </p:nvSpPr>
        <p:spPr>
          <a:xfrm>
            <a:off x="7543800" y="365760"/>
            <a:ext cx="10515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chemeClr val="accent3"/>
                </a:solidFill>
              </a:rPr>
              <a:t>REC  00:00:04:00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32588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Vårt team kvalificerar via formulär och SMS och bokar in hembesöket åt dig. Kunden får uppföljningsmejl om ert företag så att de känner sig trygga med att välja er.</a:t>
            </a:r>
            <a:endParaRPr lang="en-US" sz="1400" dirty="0"/>
          </a:p>
        </p:txBody>
      </p:sp>
      <p:sp>
        <p:nvSpPr>
          <p:cNvPr id="7" name="Lead card"/>
          <p:cNvSpPr/>
          <p:nvPr/>
        </p:nvSpPr>
        <p:spPr>
          <a:xfrm>
            <a:off x="548640" y="1965960"/>
            <a:ext cx="3566160" cy="2514600"/>
          </a:xfrm>
          <a:prstGeom prst="roundRect">
            <a:avLst>
              <a:gd name="adj" fmla="val 4364"/>
            </a:avLst>
          </a:prstGeom>
          <a:solidFill>
            <a:schemeClr val="bg1"/>
          </a:solidFill>
          <a:ln w="12700">
            <a:solidFill>
              <a:schemeClr val="accent5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777240" y="21031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Ny förfrågan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Anna L. · Täby</a:t>
            </a:r>
            <a:endParaRPr lang="en-US" sz="1400" dirty="0"/>
          </a:p>
        </p:txBody>
      </p:sp>
      <p:sp>
        <p:nvSpPr>
          <p:cNvPr id="9" name="Qualified badge"/>
          <p:cNvSpPr/>
          <p:nvPr/>
        </p:nvSpPr>
        <p:spPr>
          <a:xfrm>
            <a:off x="2788920" y="2157984"/>
            <a:ext cx="1143000" cy="27432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788920" y="2157984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KVALIFICERAD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777240" y="2651760"/>
            <a:ext cx="3108960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770632"/>
            <a:ext cx="201168" cy="201168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1097280" y="272491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3"/>
                </a:solidFill>
              </a:rPr>
              <a:t>Projekt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2057400" y="272491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Altan 30 kvm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777240" y="3063240"/>
            <a:ext cx="3108960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182112"/>
            <a:ext cx="201168" cy="201168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1097280" y="313639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3"/>
                </a:solidFill>
              </a:rPr>
              <a:t>Budget</a:t>
            </a:r>
            <a:endParaRPr lang="en-US" sz="1300" dirty="0"/>
          </a:p>
        </p:txBody>
      </p:sp>
      <p:sp>
        <p:nvSpPr>
          <p:cNvPr id="18" name="Text 14"/>
          <p:cNvSpPr txBox="1"/>
          <p:nvPr/>
        </p:nvSpPr>
        <p:spPr>
          <a:xfrm>
            <a:off x="2057400" y="313639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150–200 000 kr</a:t>
            </a:r>
            <a:endParaRPr lang="en-US" sz="1300" dirty="0"/>
          </a:p>
        </p:txBody>
      </p:sp>
      <p:sp>
        <p:nvSpPr>
          <p:cNvPr id="19" name="Shape 15"/>
          <p:cNvSpPr/>
          <p:nvPr/>
        </p:nvSpPr>
        <p:spPr>
          <a:xfrm>
            <a:off x="777240" y="3474720"/>
            <a:ext cx="3108960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3593592"/>
            <a:ext cx="201168" cy="201168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1097280" y="354787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3"/>
                </a:solidFill>
              </a:rPr>
              <a:t>Start</a:t>
            </a:r>
            <a:endParaRPr lang="en-US" sz="1300" dirty="0"/>
          </a:p>
        </p:txBody>
      </p:sp>
      <p:sp>
        <p:nvSpPr>
          <p:cNvPr id="22" name="Text 17"/>
          <p:cNvSpPr txBox="1"/>
          <p:nvPr/>
        </p:nvSpPr>
        <p:spPr>
          <a:xfrm>
            <a:off x="2057400" y="354787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Inom 2 månader</a:t>
            </a:r>
            <a:endParaRPr lang="en-US" sz="1300" dirty="0"/>
          </a:p>
        </p:txBody>
      </p:sp>
      <p:sp>
        <p:nvSpPr>
          <p:cNvPr id="23" name="Shape 18"/>
          <p:cNvSpPr/>
          <p:nvPr/>
        </p:nvSpPr>
        <p:spPr>
          <a:xfrm>
            <a:off x="777240" y="3886200"/>
            <a:ext cx="3108960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4005072"/>
            <a:ext cx="201168" cy="201168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1097280" y="395935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3"/>
                </a:solidFill>
              </a:rPr>
              <a:t>Husägare</a:t>
            </a:r>
            <a:endParaRPr lang="en-US" sz="1300" dirty="0"/>
          </a:p>
        </p:txBody>
      </p:sp>
      <p:sp>
        <p:nvSpPr>
          <p:cNvPr id="26" name="Text 20"/>
          <p:cNvSpPr txBox="1"/>
          <p:nvPr/>
        </p:nvSpPr>
        <p:spPr>
          <a:xfrm>
            <a:off x="2057400" y="395935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Ja</a:t>
            </a:r>
            <a:endParaRPr lang="en-US" sz="1300" dirty="0"/>
          </a:p>
        </p:txBody>
      </p:sp>
      <p:sp>
        <p:nvSpPr>
          <p:cNvPr id="27" name="Flow arrow circle"/>
          <p:cNvSpPr/>
          <p:nvPr/>
        </p:nvSpPr>
        <p:spPr>
          <a:xfrm>
            <a:off x="4325112" y="2990088"/>
            <a:ext cx="457200" cy="45720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28" name="Flow arrow 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39412" y="3104388"/>
            <a:ext cx="228600" cy="228600"/>
          </a:xfrm>
          <a:prstGeom prst="rect">
            <a:avLst/>
          </a:prstGeom>
        </p:spPr>
      </p:pic>
      <p:sp>
        <p:nvSpPr>
          <p:cNvPr id="29" name="Calendar"/>
          <p:cNvSpPr/>
          <p:nvPr/>
        </p:nvSpPr>
        <p:spPr>
          <a:xfrm>
            <a:off x="4983480" y="1965960"/>
            <a:ext cx="3611880" cy="2514600"/>
          </a:xfrm>
          <a:prstGeom prst="roundRect">
            <a:avLst>
              <a:gd name="adj" fmla="val 4364"/>
            </a:avLst>
          </a:prstGeom>
          <a:solidFill>
            <a:schemeClr val="bg1"/>
          </a:solidFill>
          <a:ln w="12700">
            <a:solidFill>
              <a:schemeClr val="accent5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12080" y="2130552"/>
            <a:ext cx="219456" cy="219456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5532120" y="21031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Din kalender · 3 hembesök</a:t>
            </a:r>
            <a:endParaRPr lang="en-US" sz="1400" dirty="0"/>
          </a:p>
        </p:txBody>
      </p:sp>
      <p:sp>
        <p:nvSpPr>
          <p:cNvPr id="32" name="Text 24"/>
          <p:cNvSpPr txBox="1"/>
          <p:nvPr/>
        </p:nvSpPr>
        <p:spPr>
          <a:xfrm>
            <a:off x="5212080" y="2487168"/>
            <a:ext cx="6309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3"/>
                </a:solidFill>
              </a:rPr>
              <a:t>Mån</a:t>
            </a:r>
            <a:endParaRPr lang="en-US" sz="1000" dirty="0"/>
          </a:p>
        </p:txBody>
      </p:sp>
      <p:sp>
        <p:nvSpPr>
          <p:cNvPr id="33" name="Text 25"/>
          <p:cNvSpPr txBox="1"/>
          <p:nvPr/>
        </p:nvSpPr>
        <p:spPr>
          <a:xfrm>
            <a:off x="5843016" y="2487168"/>
            <a:ext cx="6309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3"/>
                </a:solidFill>
              </a:rPr>
              <a:t>Tis</a:t>
            </a:r>
            <a:endParaRPr lang="en-US" sz="1000" dirty="0"/>
          </a:p>
        </p:txBody>
      </p:sp>
      <p:sp>
        <p:nvSpPr>
          <p:cNvPr id="34" name="Shape 26"/>
          <p:cNvSpPr/>
          <p:nvPr/>
        </p:nvSpPr>
        <p:spPr>
          <a:xfrm>
            <a:off x="5843016" y="2743200"/>
            <a:ext cx="0" cy="155448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35" name="Text 27"/>
          <p:cNvSpPr txBox="1"/>
          <p:nvPr/>
        </p:nvSpPr>
        <p:spPr>
          <a:xfrm>
            <a:off x="6473952" y="2487168"/>
            <a:ext cx="6309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3"/>
                </a:solidFill>
              </a:rPr>
              <a:t>Ons</a:t>
            </a:r>
            <a:endParaRPr lang="en-US" sz="1000" dirty="0"/>
          </a:p>
        </p:txBody>
      </p:sp>
      <p:sp>
        <p:nvSpPr>
          <p:cNvPr id="36" name="Shape 28"/>
          <p:cNvSpPr/>
          <p:nvPr/>
        </p:nvSpPr>
        <p:spPr>
          <a:xfrm>
            <a:off x="6473952" y="2743200"/>
            <a:ext cx="0" cy="155448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37" name="Text 29"/>
          <p:cNvSpPr txBox="1"/>
          <p:nvPr/>
        </p:nvSpPr>
        <p:spPr>
          <a:xfrm>
            <a:off x="7104888" y="2487168"/>
            <a:ext cx="6309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3"/>
                </a:solidFill>
              </a:rPr>
              <a:t>Tor</a:t>
            </a:r>
            <a:endParaRPr lang="en-US" sz="1000" dirty="0"/>
          </a:p>
        </p:txBody>
      </p:sp>
      <p:sp>
        <p:nvSpPr>
          <p:cNvPr id="38" name="Shape 30"/>
          <p:cNvSpPr/>
          <p:nvPr/>
        </p:nvSpPr>
        <p:spPr>
          <a:xfrm>
            <a:off x="7104888" y="2743200"/>
            <a:ext cx="0" cy="155448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39" name="Text 31"/>
          <p:cNvSpPr txBox="1"/>
          <p:nvPr/>
        </p:nvSpPr>
        <p:spPr>
          <a:xfrm>
            <a:off x="7735824" y="2487168"/>
            <a:ext cx="6309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3"/>
                </a:solidFill>
              </a:rPr>
              <a:t>Fre</a:t>
            </a:r>
            <a:endParaRPr lang="en-US" sz="1000" dirty="0"/>
          </a:p>
        </p:txBody>
      </p:sp>
      <p:sp>
        <p:nvSpPr>
          <p:cNvPr id="40" name="Shape 32"/>
          <p:cNvSpPr/>
          <p:nvPr/>
        </p:nvSpPr>
        <p:spPr>
          <a:xfrm>
            <a:off x="7735824" y="2743200"/>
            <a:ext cx="0" cy="155448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41" name="Shape 33"/>
          <p:cNvSpPr/>
          <p:nvPr/>
        </p:nvSpPr>
        <p:spPr>
          <a:xfrm>
            <a:off x="5212080" y="2743200"/>
            <a:ext cx="3154680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42" name="Shape 34"/>
          <p:cNvSpPr/>
          <p:nvPr/>
        </p:nvSpPr>
        <p:spPr>
          <a:xfrm>
            <a:off x="5212080" y="3264408"/>
            <a:ext cx="3154680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43" name="Shape 35"/>
          <p:cNvSpPr/>
          <p:nvPr/>
        </p:nvSpPr>
        <p:spPr>
          <a:xfrm>
            <a:off x="5212080" y="3785616"/>
            <a:ext cx="3154680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44" name="Shape 36"/>
          <p:cNvSpPr/>
          <p:nvPr/>
        </p:nvSpPr>
        <p:spPr>
          <a:xfrm>
            <a:off x="5212080" y="4297680"/>
            <a:ext cx="3154680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45" name="Event Anna L."/>
          <p:cNvSpPr/>
          <p:nvPr/>
        </p:nvSpPr>
        <p:spPr>
          <a:xfrm>
            <a:off x="5248656" y="2779776"/>
            <a:ext cx="557784" cy="448056"/>
          </a:xfrm>
          <a:prstGeom prst="roundRect">
            <a:avLst>
              <a:gd name="adj" fmla="val 10204"/>
            </a:avLst>
          </a:prstGeom>
          <a:solidFill>
            <a:schemeClr val="accent1"/>
          </a:solidFill>
          <a:ln/>
        </p:spPr>
      </p:sp>
      <p:sp>
        <p:nvSpPr>
          <p:cNvPr id="46" name="Text 38"/>
          <p:cNvSpPr txBox="1"/>
          <p:nvPr/>
        </p:nvSpPr>
        <p:spPr>
          <a:xfrm>
            <a:off x="5248656" y="2779776"/>
            <a:ext cx="557784" cy="4480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bg1"/>
                </a:solidFill>
              </a:rPr>
              <a:t>Hembesök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chemeClr val="bg1"/>
                </a:solidFill>
              </a:rPr>
              <a:t>Anna L.</a:t>
            </a:r>
            <a:endParaRPr lang="en-US" sz="750" dirty="0"/>
          </a:p>
        </p:txBody>
      </p:sp>
      <p:sp>
        <p:nvSpPr>
          <p:cNvPr id="47" name="Event jobb"/>
          <p:cNvSpPr/>
          <p:nvPr/>
        </p:nvSpPr>
        <p:spPr>
          <a:xfrm>
            <a:off x="5879592" y="3822192"/>
            <a:ext cx="557784" cy="448056"/>
          </a:xfrm>
          <a:prstGeom prst="roundRect">
            <a:avLst>
              <a:gd name="adj" fmla="val 10204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48" name="Text 40"/>
          <p:cNvSpPr txBox="1"/>
          <p:nvPr/>
        </p:nvSpPr>
        <p:spPr>
          <a:xfrm>
            <a:off x="5879592" y="3822192"/>
            <a:ext cx="557784" cy="4480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accent3"/>
                </a:solidFill>
              </a:rPr>
              <a:t>Pågående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chemeClr val="accent3"/>
                </a:solidFill>
              </a:rPr>
              <a:t>jobb</a:t>
            </a:r>
            <a:endParaRPr lang="en-US" sz="750" dirty="0"/>
          </a:p>
        </p:txBody>
      </p:sp>
      <p:sp>
        <p:nvSpPr>
          <p:cNvPr id="49" name="Event Erik S."/>
          <p:cNvSpPr/>
          <p:nvPr/>
        </p:nvSpPr>
        <p:spPr>
          <a:xfrm>
            <a:off x="6510528" y="3300984"/>
            <a:ext cx="557784" cy="448056"/>
          </a:xfrm>
          <a:prstGeom prst="roundRect">
            <a:avLst>
              <a:gd name="adj" fmla="val 10204"/>
            </a:avLst>
          </a:prstGeom>
          <a:solidFill>
            <a:schemeClr val="accent1"/>
          </a:solidFill>
          <a:ln/>
        </p:spPr>
      </p:sp>
      <p:sp>
        <p:nvSpPr>
          <p:cNvPr id="50" name="Text 42"/>
          <p:cNvSpPr txBox="1"/>
          <p:nvPr/>
        </p:nvSpPr>
        <p:spPr>
          <a:xfrm>
            <a:off x="6510528" y="3300984"/>
            <a:ext cx="557784" cy="4480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bg1"/>
                </a:solidFill>
              </a:rPr>
              <a:t>Hembesök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chemeClr val="bg1"/>
                </a:solidFill>
              </a:rPr>
              <a:t>Erik S.</a:t>
            </a:r>
            <a:endParaRPr lang="en-US" sz="750" dirty="0"/>
          </a:p>
        </p:txBody>
      </p:sp>
      <p:sp>
        <p:nvSpPr>
          <p:cNvPr id="51" name="Event jobb"/>
          <p:cNvSpPr/>
          <p:nvPr/>
        </p:nvSpPr>
        <p:spPr>
          <a:xfrm>
            <a:off x="7141464" y="2779776"/>
            <a:ext cx="557784" cy="448056"/>
          </a:xfrm>
          <a:prstGeom prst="roundRect">
            <a:avLst>
              <a:gd name="adj" fmla="val 10204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52" name="Text 44"/>
          <p:cNvSpPr txBox="1"/>
          <p:nvPr/>
        </p:nvSpPr>
        <p:spPr>
          <a:xfrm>
            <a:off x="7141464" y="2779776"/>
            <a:ext cx="557784" cy="4480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accent3"/>
                </a:solidFill>
              </a:rPr>
              <a:t>Pågående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chemeClr val="accent3"/>
                </a:solidFill>
              </a:rPr>
              <a:t>jobb</a:t>
            </a:r>
            <a:endParaRPr lang="en-US" sz="750" dirty="0"/>
          </a:p>
        </p:txBody>
      </p:sp>
      <p:sp>
        <p:nvSpPr>
          <p:cNvPr id="53" name="Event Maria K."/>
          <p:cNvSpPr/>
          <p:nvPr/>
        </p:nvSpPr>
        <p:spPr>
          <a:xfrm>
            <a:off x="7772400" y="3822192"/>
            <a:ext cx="557784" cy="448056"/>
          </a:xfrm>
          <a:prstGeom prst="roundRect">
            <a:avLst>
              <a:gd name="adj" fmla="val 10204"/>
            </a:avLst>
          </a:prstGeom>
          <a:solidFill>
            <a:schemeClr val="accent1"/>
          </a:solidFill>
          <a:ln/>
        </p:spPr>
      </p:sp>
      <p:sp>
        <p:nvSpPr>
          <p:cNvPr id="54" name="Text 46"/>
          <p:cNvSpPr txBox="1"/>
          <p:nvPr/>
        </p:nvSpPr>
        <p:spPr>
          <a:xfrm>
            <a:off x="7772400" y="3822192"/>
            <a:ext cx="557784" cy="4480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bg1"/>
                </a:solidFill>
              </a:rPr>
              <a:t>Hembesök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chemeClr val="bg1"/>
                </a:solidFill>
              </a:rPr>
              <a:t>Maria K.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680960" y="4681728"/>
            <a:ext cx="9144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9"/>
          <p:cNvSpPr/>
          <p:nvPr>
            <p:ph idx="109" type="body" hasCustomPrompt="1"/>
          </p:nvPr>
        </p:nvSpPr>
        <p:spPr>
          <a:xfrm>
            <a:off x="548640" y="384048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chemeClr val="accent1"/>
                </a:solidFill>
              </a:rPr>
              <a:t>APPEN</a:t>
            </a:r>
            <a:endParaRPr lang="en-US" sz="1100" dirty="0"/>
          </a:p>
        </p:txBody>
      </p:sp>
      <p:sp>
        <p:nvSpPr>
          <p:cNvPr id="3" name="Text 9"/>
          <p:cNvSpPr/>
          <p:nvPr>
            <p:ph idx="110" type="title" hasCustomPrompt="1"/>
          </p:nvPr>
        </p:nvSpPr>
        <p:spPr>
          <a:xfrm>
            <a:off x="548640" y="658368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Full överblick – i mobilen och på datorn</a:t>
            </a:r>
            <a:endParaRPr lang="en-US" sz="3000" dirty="0"/>
          </a:p>
        </p:txBody>
      </p:sp>
      <p:sp>
        <p:nvSpPr>
          <p:cNvPr id="4" name="REC dot"/>
          <p:cNvSpPr/>
          <p:nvPr/>
        </p:nvSpPr>
        <p:spPr>
          <a:xfrm>
            <a:off x="7360920" y="429768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Timecode"/>
          <p:cNvSpPr txBox="1"/>
          <p:nvPr/>
        </p:nvSpPr>
        <p:spPr>
          <a:xfrm>
            <a:off x="7543800" y="365760"/>
            <a:ext cx="10515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chemeClr val="accent3"/>
                </a:solidFill>
              </a:rPr>
              <a:t>REC  00:00:05:00</a:t>
            </a:r>
            <a:endParaRPr lang="en-US" sz="900" dirty="0"/>
          </a:p>
        </p:txBody>
      </p:sp>
      <p:sp>
        <p:nvSpPr>
          <p:cNvPr id="6" name="Glow"/>
          <p:cNvSpPr/>
          <p:nvPr/>
        </p:nvSpPr>
        <p:spPr>
          <a:xfrm>
            <a:off x="5669280" y="1417320"/>
            <a:ext cx="3017520" cy="3017520"/>
          </a:xfrm>
          <a:prstGeom prst="ellipse">
            <a:avLst/>
          </a:prstGeom>
          <a:solidFill>
            <a:schemeClr val="accent1">
              <a:alpha val="15000"/>
            </a:schemeClr>
          </a:solidFill>
          <a:ln/>
        </p:spPr>
      </p:sp>
      <p:pic>
        <p:nvPicPr>
          <p:cNvPr id="7" name="App mockup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55080" y="1371600"/>
            <a:ext cx="1645920" cy="3346704"/>
          </a:xfrm>
          <a:prstGeom prst="rect">
            <a:avLst/>
          </a:prstGeom>
        </p:spPr>
      </p:pic>
      <p:sp>
        <p:nvSpPr>
          <p:cNvPr id="8" name="Feature 1 circle"/>
          <p:cNvSpPr/>
          <p:nvPr/>
        </p:nvSpPr>
        <p:spPr>
          <a:xfrm>
            <a:off x="548640" y="1609344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9" name="Feature 1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" y="1723644"/>
            <a:ext cx="228600" cy="22860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188720" y="1572768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Alla hembesök samlade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Ett enkelt kalendersystem med adress och info om jobbet.</a:t>
            </a:r>
            <a:endParaRPr lang="en-US" sz="1500" dirty="0"/>
          </a:p>
        </p:txBody>
      </p:sp>
      <p:sp>
        <p:nvSpPr>
          <p:cNvPr id="11" name="Feature 2 circle"/>
          <p:cNvSpPr/>
          <p:nvPr/>
        </p:nvSpPr>
        <p:spPr>
          <a:xfrm>
            <a:off x="548640" y="2340864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2" name="Feature 2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940" y="2455164"/>
            <a:ext cx="228600" cy="22860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188720" y="2304288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SMS-notis vid varje bokning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Du får besked direkt när ett hembesök bokas in.</a:t>
            </a:r>
            <a:endParaRPr lang="en-US" sz="1500" dirty="0"/>
          </a:p>
        </p:txBody>
      </p:sp>
      <p:sp>
        <p:nvSpPr>
          <p:cNvPr id="14" name="Feature 3 circle"/>
          <p:cNvSpPr/>
          <p:nvPr/>
        </p:nvSpPr>
        <p:spPr>
          <a:xfrm>
            <a:off x="548640" y="3072384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5" name="Feature 3 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940" y="3186684"/>
            <a:ext cx="228600" cy="22860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1188720" y="3035808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Chatta med leads via SMS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All kontakt med kunderna på ett ställe.</a:t>
            </a:r>
            <a:endParaRPr lang="en-US" sz="1500" dirty="0"/>
          </a:p>
        </p:txBody>
      </p:sp>
      <p:sp>
        <p:nvSpPr>
          <p:cNvPr id="17" name="Feature 4 circle"/>
          <p:cNvSpPr/>
          <p:nvPr/>
        </p:nvSpPr>
        <p:spPr>
          <a:xfrm>
            <a:off x="548640" y="3803904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8" name="Feature 4 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2940" y="3918204"/>
            <a:ext cx="228600" cy="228600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1188720" y="3767328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Överblick och statistik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Se hur många hembesök som bokas varje månad.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680960" y="4681728"/>
            <a:ext cx="9144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9"/>
          <p:cNvSpPr/>
          <p:nvPr>
            <p:ph idx="109" type="body" hasCustomPrompt="1"/>
          </p:nvPr>
        </p:nvSpPr>
        <p:spPr>
          <a:xfrm>
            <a:off x="548640" y="384048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chemeClr val="accent1"/>
                </a:solidFill>
              </a:rPr>
              <a:t>PRISMODELL</a:t>
            </a:r>
            <a:endParaRPr lang="en-US" sz="1100" dirty="0"/>
          </a:p>
        </p:txBody>
      </p:sp>
      <p:sp>
        <p:nvSpPr>
          <p:cNvPr id="3" name="Text 9"/>
          <p:cNvSpPr/>
          <p:nvPr>
            <p:ph idx="110" type="title" hasCustomPrompt="1"/>
          </p:nvPr>
        </p:nvSpPr>
        <p:spPr>
          <a:xfrm>
            <a:off x="548640" y="658368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Ni betalar för resultat</a:t>
            </a:r>
            <a:endParaRPr lang="en-US" sz="3000" dirty="0"/>
          </a:p>
        </p:txBody>
      </p:sp>
      <p:sp>
        <p:nvSpPr>
          <p:cNvPr id="4" name="REC dot"/>
          <p:cNvSpPr/>
          <p:nvPr/>
        </p:nvSpPr>
        <p:spPr>
          <a:xfrm>
            <a:off x="7360920" y="429768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Timecode"/>
          <p:cNvSpPr txBox="1"/>
          <p:nvPr/>
        </p:nvSpPr>
        <p:spPr>
          <a:xfrm>
            <a:off x="7543800" y="365760"/>
            <a:ext cx="10515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chemeClr val="accent3"/>
                </a:solidFill>
              </a:rPr>
              <a:t>REC  00:00:06:00</a:t>
            </a:r>
            <a:endParaRPr lang="en-US" sz="900" dirty="0"/>
          </a:p>
        </p:txBody>
      </p:sp>
      <p:sp>
        <p:nvSpPr>
          <p:cNvPr id="6" name="Price 500 kr"/>
          <p:cNvSpPr/>
          <p:nvPr/>
        </p:nvSpPr>
        <p:spPr>
          <a:xfrm>
            <a:off x="548640" y="1600200"/>
            <a:ext cx="1536192" cy="2834640"/>
          </a:xfrm>
          <a:prstGeom prst="roundRect">
            <a:avLst>
              <a:gd name="adj" fmla="val 5952"/>
            </a:avLst>
          </a:prstGeom>
          <a:solidFill>
            <a:schemeClr val="tx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13232" y="178308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500 kr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377440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per bokat hembesök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713232" y="3017520"/>
            <a:ext cx="126187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För varje kvalificerat besök i er kalender.</a:t>
            </a:r>
            <a:endParaRPr lang="en-US" sz="1200" dirty="0"/>
          </a:p>
        </p:txBody>
      </p:sp>
      <p:sp>
        <p:nvSpPr>
          <p:cNvPr id="10" name="Price 5 %"/>
          <p:cNvSpPr/>
          <p:nvPr/>
        </p:nvSpPr>
        <p:spPr>
          <a:xfrm>
            <a:off x="2221992" y="1600200"/>
            <a:ext cx="1536192" cy="2834640"/>
          </a:xfrm>
          <a:prstGeom prst="roundRect">
            <a:avLst>
              <a:gd name="adj" fmla="val 5952"/>
            </a:avLst>
          </a:prstGeom>
          <a:solidFill>
            <a:schemeClr val="tx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386584" y="178308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5 %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2386584" y="2377440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av vinsten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2386584" y="3017520"/>
            <a:ext cx="126187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På de jobb ni vinner från våra besök.</a:t>
            </a:r>
            <a:endParaRPr lang="en-US" sz="1200" dirty="0"/>
          </a:p>
        </p:txBody>
      </p:sp>
      <p:sp>
        <p:nvSpPr>
          <p:cNvPr id="14" name="Price 300 kr"/>
          <p:cNvSpPr/>
          <p:nvPr/>
        </p:nvSpPr>
        <p:spPr>
          <a:xfrm>
            <a:off x="3895344" y="1600200"/>
            <a:ext cx="1536192" cy="2834640"/>
          </a:xfrm>
          <a:prstGeom prst="roundRect">
            <a:avLst>
              <a:gd name="adj" fmla="val 5952"/>
            </a:avLst>
          </a:prstGeom>
          <a:solidFill>
            <a:schemeClr val="tx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059936" y="178308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300 kr</a:t>
            </a:r>
            <a:endParaRPr lang="en-US" sz="3000" dirty="0"/>
          </a:p>
        </p:txBody>
      </p:sp>
      <p:sp>
        <p:nvSpPr>
          <p:cNvPr id="16" name="Text 14"/>
          <p:cNvSpPr txBox="1"/>
          <p:nvPr/>
        </p:nvSpPr>
        <p:spPr>
          <a:xfrm>
            <a:off x="4059936" y="2377440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per dag i annonser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4059936" y="3017520"/>
            <a:ext cx="126187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Går direkt till Meta. Ca 9 000 kr/mån.</a:t>
            </a:r>
            <a:endParaRPr lang="en-US" sz="1200" dirty="0"/>
          </a:p>
        </p:txBody>
      </p:sp>
      <p:sp>
        <p:nvSpPr>
          <p:cNvPr id="18" name="Example box"/>
          <p:cNvSpPr/>
          <p:nvPr/>
        </p:nvSpPr>
        <p:spPr>
          <a:xfrm>
            <a:off x="5669280" y="1600200"/>
            <a:ext cx="2926080" cy="2834640"/>
          </a:xfrm>
          <a:prstGeom prst="roundRect">
            <a:avLst>
              <a:gd name="adj" fmla="val 3226"/>
            </a:avLst>
          </a:prstGeom>
          <a:solidFill>
            <a:schemeClr val="accent1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870448" y="1755648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chemeClr val="tx1"/>
                </a:solidFill>
              </a:rPr>
              <a:t>RÄKNEEXEMPEL · 1 MÅNAD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5870448" y="207568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Annonser 30 × 300 kr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7498080" y="20756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9 000 kr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5870448" y="240487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10 hembesök × 500 kr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7498080" y="24048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5 000 kr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5870448" y="273405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5 % av 150 000 kr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7498080" y="273405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7 500 kr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870448" y="3099816"/>
            <a:ext cx="2542032" cy="0"/>
          </a:xfrm>
          <a:prstGeom prst="line">
            <a:avLst/>
          </a:prstGeom>
          <a:noFill/>
          <a:ln w="12700">
            <a:solidFill>
              <a:schemeClr val="tx1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870448" y="315468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Totalt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7223760" y="315468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21 500 kr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5870448" y="356616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95 %</a:t>
            </a:r>
            <a:endParaRPr lang="en-US" sz="2800" dirty="0"/>
          </a:p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av vinsten behåller ni</a:t>
            </a:r>
            <a:endParaRPr lang="en-US" sz="2800" dirty="0"/>
          </a:p>
        </p:txBody>
      </p:sp>
      <p:sp>
        <p:nvSpPr>
          <p:cNvPr id="30" name="Text 28"/>
          <p:cNvSpPr txBox="1"/>
          <p:nvPr/>
        </p:nvSpPr>
        <p:spPr>
          <a:xfrm>
            <a:off x="2743200" y="4681728"/>
            <a:ext cx="4846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3"/>
                </a:solidFill>
              </a:rPr>
              <a:t>Exempelsiffror – faktiskt utfall varierar per företag och område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680960" y="4681728"/>
            <a:ext cx="9144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 dot"/>
          <p:cNvSpPr/>
          <p:nvPr/>
        </p:nvSpPr>
        <p:spPr>
          <a:xfrm>
            <a:off x="7360920" y="429768"/>
            <a:ext cx="118872" cy="118872"/>
          </a:xfrm>
          <a:prstGeom prst="ellipse">
            <a:avLst/>
          </a:prstGeom>
          <a:solidFill>
            <a:schemeClr val="tx1"/>
          </a:solidFill>
          <a:ln/>
        </p:spPr>
      </p:sp>
      <p:sp>
        <p:nvSpPr>
          <p:cNvPr id="3" name="Timecode"/>
          <p:cNvSpPr txBox="1"/>
          <p:nvPr/>
        </p:nvSpPr>
        <p:spPr>
          <a:xfrm>
            <a:off x="7543800" y="365760"/>
            <a:ext cx="10515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REC  00:00:07:00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8404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chemeClr val="tx1"/>
                </a:solidFill>
              </a:rPr>
              <a:t>ZDANMOTION</a:t>
            </a:r>
            <a:endParaRPr lang="en-US" sz="1200" dirty="0"/>
          </a:p>
        </p:txBody>
      </p:sp>
      <p:sp>
        <p:nvSpPr>
          <p:cNvPr id="5" name="CTA title"/>
          <p:cNvSpPr txBox="1"/>
          <p:nvPr/>
        </p:nvSpPr>
        <p:spPr>
          <a:xfrm>
            <a:off x="548640" y="96012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chemeClr val="tx1"/>
                </a:solidFill>
              </a:rPr>
              <a:t>Ska vi fylla er kalender?</a:t>
            </a:r>
            <a:endParaRPr lang="en-US" sz="4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87452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Från ja till första bokade hembesöket:</a:t>
            </a:r>
            <a:endParaRPr lang="en-US" sz="1500" dirty="0"/>
          </a:p>
        </p:txBody>
      </p:sp>
      <p:sp>
        <p:nvSpPr>
          <p:cNvPr id="7" name="Steps line"/>
          <p:cNvSpPr/>
          <p:nvPr/>
        </p:nvSpPr>
        <p:spPr>
          <a:xfrm>
            <a:off x="777240" y="2697480"/>
            <a:ext cx="6035040" cy="0"/>
          </a:xfrm>
          <a:prstGeom prst="line">
            <a:avLst/>
          </a:prstGeom>
          <a:noFill/>
          <a:ln w="19050">
            <a:solidFill>
              <a:schemeClr val="tx1"/>
            </a:solidFill>
            <a:prstDash val="solid"/>
          </a:ln>
        </p:spPr>
      </p:sp>
      <p:sp>
        <p:nvSpPr>
          <p:cNvPr id="8" name="Step 1"/>
          <p:cNvSpPr/>
          <p:nvPr/>
        </p:nvSpPr>
        <p:spPr>
          <a:xfrm>
            <a:off x="548640" y="2468880"/>
            <a:ext cx="457200" cy="457200"/>
          </a:xfrm>
          <a:prstGeom prst="ellipse">
            <a:avLst/>
          </a:prstGeom>
          <a:solidFill>
            <a:schemeClr val="tx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48640" y="2468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1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06324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Signera avtalet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3401568"/>
            <a:ext cx="1783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Digitalt via länk – direkt under mötet.</a:t>
            </a:r>
            <a:endParaRPr lang="en-US" sz="1400" dirty="0"/>
          </a:p>
        </p:txBody>
      </p:sp>
      <p:sp>
        <p:nvSpPr>
          <p:cNvPr id="12" name="Step 2"/>
          <p:cNvSpPr/>
          <p:nvPr/>
        </p:nvSpPr>
        <p:spPr>
          <a:xfrm>
            <a:off x="2560320" y="2468880"/>
            <a:ext cx="457200" cy="457200"/>
          </a:xfrm>
          <a:prstGeom prst="ellipse">
            <a:avLst/>
          </a:prstGeom>
          <a:solidFill>
            <a:schemeClr val="tx1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2560320" y="2468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2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2560320" y="306324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Skicka material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2560320" y="3401568"/>
            <a:ext cx="1783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Bilder och filmer från era jobb i en Google Drive-mapp.</a:t>
            </a:r>
            <a:endParaRPr lang="en-US" sz="1400" dirty="0"/>
          </a:p>
        </p:txBody>
      </p:sp>
      <p:sp>
        <p:nvSpPr>
          <p:cNvPr id="16" name="Step 3"/>
          <p:cNvSpPr/>
          <p:nvPr/>
        </p:nvSpPr>
        <p:spPr>
          <a:xfrm>
            <a:off x="4572000" y="2468880"/>
            <a:ext cx="457200" cy="457200"/>
          </a:xfrm>
          <a:prstGeom prst="ellipse">
            <a:avLst/>
          </a:prstGeom>
          <a:solidFill>
            <a:schemeClr val="tx1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572000" y="2468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3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0" y="306324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Produktion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0" y="3401568"/>
            <a:ext cx="1783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Vi gör annonser och formulär. Kampanjen går live.</a:t>
            </a:r>
            <a:endParaRPr lang="en-US" sz="1400" dirty="0"/>
          </a:p>
        </p:txBody>
      </p:sp>
      <p:sp>
        <p:nvSpPr>
          <p:cNvPr id="20" name="Step 4"/>
          <p:cNvSpPr/>
          <p:nvPr/>
        </p:nvSpPr>
        <p:spPr>
          <a:xfrm>
            <a:off x="6583680" y="2468880"/>
            <a:ext cx="457200" cy="457200"/>
          </a:xfrm>
          <a:prstGeom prst="ellipse">
            <a:avLst/>
          </a:prstGeom>
          <a:solidFill>
            <a:schemeClr val="tx1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583680" y="2468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4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6583680" y="306324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Hembesök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6583680" y="3401568"/>
            <a:ext cx="1783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De första kunderna bokas in i er kalender.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4572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zdanmotion.se</a:t>
            </a:r>
            <a:endParaRPr lang="en-US" sz="1200" dirty="0"/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Zdanmotion Bygg">
  <a:themeElements>
    <a:clrScheme name="Zdanmotion Bygg">
      <a:dk1>
        <a:srgbClr val="1C1F22"/>
      </a:dk1>
      <a:lt1>
        <a:srgbClr val="FFFFFF"/>
      </a:lt1>
      <a:dk2>
        <a:srgbClr val="2A2E32"/>
      </a:dk2>
      <a:lt2>
        <a:srgbClr val="F7F6F3"/>
      </a:lt2>
      <a:accent1>
        <a:srgbClr val="E8772E"/>
      </a:accent1>
      <a:accent2>
        <a:srgbClr val="3A3F44"/>
      </a:accent2>
      <a:accent3>
        <a:srgbClr val="8D887F"/>
      </a:accent3>
      <a:accent4>
        <a:srgbClr val="B9B4AA"/>
      </a:accent4>
      <a:accent5>
        <a:srgbClr val="E6E2DA"/>
      </a:accent5>
      <a:accent6>
        <a:srgbClr val="4A4D50"/>
      </a:accent6>
      <a:hlink>
        <a:srgbClr val="E8772E"/>
      </a:hlink>
      <a:folHlink>
        <a:srgbClr val="8D887F"/>
      </a:folHlink>
    </a:clrScheme>
    <a:fontScheme name="Zdanmotion Bygg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Zdanmotion – Bygg</dc:title>
  <dc:subject>PptxGenJS Presentation</dc:subject>
  <dc:creator>PptxGenJS</dc:creator>
  <cp:lastModifiedBy>PptxGenJS</cp:lastModifiedBy>
  <cp:revision>1</cp:revision>
  <dcterms:created xsi:type="dcterms:W3CDTF">2026-10-22T16:19:48Z</dcterms:created>
  <dcterms:modified xsi:type="dcterms:W3CDTF">2026-10-22T16:19:48Z</dcterms:modified>
</cp:coreProperties>
</file>